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466" y="9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Churn %</c:v>
                </c:pt>
              </c:strCache>
            </c:strRef>
          </c:tx>
          <c:spPr>
            <a:solidFill>
              <a:srgbClr val="028090"/>
            </a:solidFill>
            <a:effectLst/>
          </c:spPr>
          <c:invertIfNegative val="0"/>
          <c:cat>
            <c:strRef>
              <c:f>Sheet1!$A$2:$A$4</c:f>
              <c:strCache>
                <c:ptCount val="3"/>
                <c:pt idx="0">
                  <c:v>France</c:v>
                </c:pt>
                <c:pt idx="1">
                  <c:v>Spain</c:v>
                </c:pt>
                <c:pt idx="2">
                  <c:v>Germany</c:v>
                </c:pt>
              </c:strCache>
            </c:strRef>
          </c:cat>
          <c:val>
            <c:numRef>
              <c:f>Sheet1!$B$2:$B$4</c:f>
              <c:numCache>
                <c:formatCode>General</c:formatCode>
                <c:ptCount val="3"/>
                <c:pt idx="0">
                  <c:v>16.149999999999999</c:v>
                </c:pt>
                <c:pt idx="1">
                  <c:v>16.670000000000002</c:v>
                </c:pt>
                <c:pt idx="2">
                  <c:v>32.44</c:v>
                </c:pt>
              </c:numCache>
            </c:numRef>
          </c:val>
          <c:extLst>
            <c:ext xmlns:c16="http://schemas.microsoft.com/office/drawing/2014/chart" uri="{C3380CC4-5D6E-409C-BE32-E72D297353CC}">
              <c16:uniqueId val="{00000000-D6E0-4BEA-9E71-E280C20E6A37}"/>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00A896"/>
              </a:solidFill>
              <a:effectLst/>
            </c:spPr>
            <c:extLst>
              <c:ext xmlns:c16="http://schemas.microsoft.com/office/drawing/2014/chart" uri="{C3380CC4-5D6E-409C-BE32-E72D297353CC}">
                <c16:uniqueId val="{00000001-1F42-4A75-B1C2-27BDD2716CAB}"/>
              </c:ext>
            </c:extLst>
          </c:dPt>
          <c:dPt>
            <c:idx val="1"/>
            <c:bubble3D val="0"/>
            <c:spPr>
              <a:solidFill>
                <a:srgbClr val="F96167"/>
              </a:solidFill>
              <a:effectLst/>
            </c:spPr>
            <c:extLst>
              <c:ext xmlns:c16="http://schemas.microsoft.com/office/drawing/2014/chart" uri="{C3380CC4-5D6E-409C-BE32-E72D297353CC}">
                <c16:uniqueId val="{00000003-1F42-4A75-B1C2-27BDD2716CAB}"/>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1F42-4A75-B1C2-27BDD2716CAB}"/>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1F42-4A75-B1C2-27BDD2716CAB}"/>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Retained</c:v>
                </c:pt>
                <c:pt idx="1">
                  <c:v>Churned</c:v>
                </c:pt>
              </c:strCache>
            </c:strRef>
          </c:cat>
          <c:val>
            <c:numRef>
              <c:f>Sheet1!$B$2:$B$3</c:f>
              <c:numCache>
                <c:formatCode>General</c:formatCode>
                <c:ptCount val="2"/>
                <c:pt idx="0">
                  <c:v>79.63</c:v>
                </c:pt>
                <c:pt idx="1">
                  <c:v>20.37</c:v>
                </c:pt>
              </c:numCache>
            </c:numRef>
          </c:val>
          <c:extLst>
            <c:ext xmlns:c16="http://schemas.microsoft.com/office/drawing/2014/chart" uri="{C3380CC4-5D6E-409C-BE32-E72D297353CC}">
              <c16:uniqueId val="{00000004-1F42-4A75-B1C2-27BDD2716CAB}"/>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900"/>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Churn %</c:v>
                </c:pt>
              </c:strCache>
            </c:strRef>
          </c:tx>
          <c:spPr>
            <a:solidFill>
              <a:srgbClr val="02C39A"/>
            </a:solidFill>
            <a:effectLst/>
          </c:spPr>
          <c:invertIfNegative val="0"/>
          <c:cat>
            <c:strRef>
              <c:f>Sheet1!$A$2:$A$3</c:f>
              <c:strCache>
                <c:ptCount val="2"/>
                <c:pt idx="0">
                  <c:v>Active</c:v>
                </c:pt>
                <c:pt idx="1">
                  <c:v>Inactive</c:v>
                </c:pt>
              </c:strCache>
            </c:strRef>
          </c:cat>
          <c:val>
            <c:numRef>
              <c:f>Sheet1!$B$2:$B$3</c:f>
              <c:numCache>
                <c:formatCode>General</c:formatCode>
                <c:ptCount val="2"/>
                <c:pt idx="0">
                  <c:v>14.27</c:v>
                </c:pt>
                <c:pt idx="1">
                  <c:v>26.85</c:v>
                </c:pt>
              </c:numCache>
            </c:numRef>
          </c:val>
          <c:extLst>
            <c:ext xmlns:c16="http://schemas.microsoft.com/office/drawing/2014/chart" uri="{C3380CC4-5D6E-409C-BE32-E72D297353CC}">
              <c16:uniqueId val="{00000000-47E3-4F3C-96C1-1C80F95FB8D9}"/>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8236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A2E"/>
        </a:solidFill>
        <a:effectLst/>
      </p:bgPr>
    </p:bg>
    <p:spTree>
      <p:nvGrpSpPr>
        <p:cNvPr id="1" name=""/>
        <p:cNvGrpSpPr/>
        <p:nvPr/>
      </p:nvGrpSpPr>
      <p:grpSpPr>
        <a:xfrm>
          <a:off x="0" y="0"/>
          <a:ext cx="0" cy="0"/>
          <a:chOff x="0" y="0"/>
          <a:chExt cx="0" cy="0"/>
        </a:xfrm>
      </p:grpSpPr>
      <p:sp>
        <p:nvSpPr>
          <p:cNvPr id="2" name="Shape 0"/>
          <p:cNvSpPr/>
          <p:nvPr/>
        </p:nvSpPr>
        <p:spPr>
          <a:xfrm>
            <a:off x="8869680" y="-1645920"/>
            <a:ext cx="5029200" cy="5029200"/>
          </a:xfrm>
          <a:prstGeom prst="ellipse">
            <a:avLst/>
          </a:prstGeom>
          <a:solidFill>
            <a:srgbClr val="028090">
              <a:alpha val="25000"/>
            </a:srgbClr>
          </a:solidFill>
          <a:ln/>
        </p:spPr>
      </p:sp>
      <p:sp>
        <p:nvSpPr>
          <p:cNvPr id="3" name="Shape 1"/>
          <p:cNvSpPr/>
          <p:nvPr/>
        </p:nvSpPr>
        <p:spPr>
          <a:xfrm>
            <a:off x="-1371600" y="4114800"/>
            <a:ext cx="4114800" cy="4114800"/>
          </a:xfrm>
          <a:prstGeom prst="ellipse">
            <a:avLst/>
          </a:prstGeom>
          <a:solidFill>
            <a:srgbClr val="02C39A">
              <a:alpha val="15000"/>
            </a:srgbClr>
          </a:solidFill>
          <a:ln/>
        </p:spPr>
      </p:sp>
      <p:sp>
        <p:nvSpPr>
          <p:cNvPr id="4" name="Text 2"/>
          <p:cNvSpPr/>
          <p:nvPr/>
        </p:nvSpPr>
        <p:spPr>
          <a:xfrm>
            <a:off x="731520" y="2011680"/>
            <a:ext cx="10515600" cy="109728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BANK CUSTOMER CHURN</a:t>
            </a:r>
            <a:endParaRPr lang="en-US" sz="4600" dirty="0"/>
          </a:p>
        </p:txBody>
      </p:sp>
      <p:sp>
        <p:nvSpPr>
          <p:cNvPr id="5" name="Text 3"/>
          <p:cNvSpPr/>
          <p:nvPr/>
        </p:nvSpPr>
        <p:spPr>
          <a:xfrm>
            <a:off x="731520" y="3063240"/>
            <a:ext cx="10515600" cy="640080"/>
          </a:xfrm>
          <a:prstGeom prst="rect">
            <a:avLst/>
          </a:prstGeom>
          <a:noFill/>
          <a:ln/>
        </p:spPr>
        <p:txBody>
          <a:bodyPr wrap="square" rtlCol="0" anchor="ctr"/>
          <a:lstStyle/>
          <a:p>
            <a:pPr marL="0" indent="0">
              <a:buNone/>
            </a:pPr>
            <a:r>
              <a:rPr lang="en-US" sz="2400" dirty="0">
                <a:solidFill>
                  <a:srgbClr val="02C39A"/>
                </a:solidFill>
                <a:latin typeface="Calibri" pitchFamily="34" charset="0"/>
                <a:ea typeface="Calibri" pitchFamily="34" charset="-122"/>
                <a:cs typeface="Calibri" pitchFamily="34" charset="-120"/>
              </a:rPr>
              <a:t>Analysis &amp; Dashboard Project</a:t>
            </a:r>
            <a:endParaRPr lang="en-US" sz="2400" dirty="0"/>
          </a:p>
        </p:txBody>
      </p:sp>
      <p:sp>
        <p:nvSpPr>
          <p:cNvPr id="6" name="Text 4"/>
          <p:cNvSpPr/>
          <p:nvPr/>
        </p:nvSpPr>
        <p:spPr>
          <a:xfrm>
            <a:off x="731520" y="3931920"/>
            <a:ext cx="10515600" cy="457200"/>
          </a:xfrm>
          <a:prstGeom prst="rect">
            <a:avLst/>
          </a:prstGeom>
          <a:noFill/>
          <a:ln/>
        </p:spPr>
        <p:txBody>
          <a:bodyPr wrap="square" rtlCol="0" anchor="ctr"/>
          <a:lstStyle/>
          <a:p>
            <a:pPr marL="0" indent="0">
              <a:buNone/>
            </a:pPr>
            <a:r>
              <a:rPr lang="en-US" sz="1600" dirty="0">
                <a:solidFill>
                  <a:srgbClr val="CFEDE8"/>
                </a:solidFill>
                <a:latin typeface="Calibri" pitchFamily="34" charset="0"/>
                <a:ea typeface="Calibri" pitchFamily="34" charset="-122"/>
                <a:cs typeface="Calibri" pitchFamily="34" charset="-120"/>
              </a:rPr>
              <a:t>SQL  ·  Power BI  ·  Exploratory Data Analysis</a:t>
            </a:r>
            <a:endParaRPr lang="en-US" sz="1600" dirty="0"/>
          </a:p>
        </p:txBody>
      </p:sp>
      <p:sp>
        <p:nvSpPr>
          <p:cNvPr id="7" name="Text 5"/>
          <p:cNvSpPr/>
          <p:nvPr/>
        </p:nvSpPr>
        <p:spPr>
          <a:xfrm>
            <a:off x="731520" y="6035040"/>
            <a:ext cx="10515600" cy="365760"/>
          </a:xfrm>
          <a:prstGeom prst="rect">
            <a:avLst/>
          </a:prstGeom>
          <a:noFill/>
          <a:ln/>
        </p:spPr>
        <p:txBody>
          <a:bodyPr wrap="square" rtlCol="0" anchor="ctr"/>
          <a:lstStyle/>
          <a:p>
            <a:pPr marL="0" indent="0">
              <a:buNone/>
            </a:pPr>
            <a:r>
              <a:rPr lang="en-US" sz="1300" dirty="0">
                <a:solidFill>
                  <a:srgbClr val="9FD8D2"/>
                </a:solidFill>
                <a:latin typeface="Calibri" pitchFamily="34" charset="0"/>
                <a:ea typeface="Calibri" pitchFamily="34" charset="-122"/>
                <a:cs typeface="Calibri" pitchFamily="34" charset="-120"/>
              </a:rPr>
              <a:t>Dataset: 10,000 bank customers  |  14 attributes  |  Overall churn rate: 20.4%</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139CD70E-DEFA-9294-D43C-EB8D7E15CC57}"/>
              </a:ext>
            </a:extLst>
          </p:cNvPr>
          <p:cNvSpPr/>
          <p:nvPr/>
        </p:nvSpPr>
        <p:spPr>
          <a:xfrm>
            <a:off x="7172587" y="738231"/>
            <a:ext cx="4467725" cy="5385732"/>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2" name="Text 0"/>
          <p:cNvSpPr/>
          <p:nvPr/>
        </p:nvSpPr>
        <p:spPr>
          <a:xfrm>
            <a:off x="548640" y="320040"/>
            <a:ext cx="11091672" cy="822960"/>
          </a:xfrm>
          <a:prstGeom prst="rect">
            <a:avLst/>
          </a:prstGeom>
          <a:noFill/>
          <a:ln/>
        </p:spPr>
        <p:txBody>
          <a:bodyPr wrap="square" lIns="0" tIns="0" rIns="0" bIns="0" rtlCol="0" anchor="ctr"/>
          <a:lstStyle/>
          <a:p>
            <a:pPr marL="0" indent="0">
              <a:buNone/>
            </a:pPr>
            <a:r>
              <a:rPr lang="en-US" sz="3200" b="1" dirty="0">
                <a:solidFill>
                  <a:srgbClr val="021A2E"/>
                </a:solidFill>
                <a:latin typeface="Calibri" pitchFamily="34" charset="0"/>
                <a:ea typeface="Calibri" pitchFamily="34" charset="-122"/>
                <a:cs typeface="Calibri" pitchFamily="34" charset="-120"/>
              </a:rPr>
              <a:t>Project Overview</a:t>
            </a:r>
            <a:endParaRPr lang="en-US" sz="3200" dirty="0"/>
          </a:p>
        </p:txBody>
      </p:sp>
      <p:sp>
        <p:nvSpPr>
          <p:cNvPr id="3" name="Text 1"/>
          <p:cNvSpPr/>
          <p:nvPr/>
        </p:nvSpPr>
        <p:spPr>
          <a:xfrm>
            <a:off x="548641" y="1188720"/>
            <a:ext cx="6087052" cy="1890040"/>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nchor="t"/>
          <a:lstStyle/>
          <a:p>
            <a:pPr marL="0" indent="0">
              <a:buNone/>
            </a:pPr>
            <a:r>
              <a:rPr lang="en-US" sz="2000" b="1" dirty="0">
                <a:solidFill>
                  <a:srgbClr val="1B3A4B"/>
                </a:solidFill>
                <a:latin typeface="Calibri" pitchFamily="34" charset="0"/>
                <a:ea typeface="Calibri" pitchFamily="34" charset="-122"/>
                <a:cs typeface="Calibri" pitchFamily="34" charset="-120"/>
              </a:rPr>
              <a:t>A bank wants to understand why customers leave (churn) so it can take action to retain them. This project explores customer data, identifies churn drivers using SQL, and visualizes findings in an interactive Power BI dashboard.</a:t>
            </a:r>
            <a:endParaRPr lang="en-US" sz="2000" b="1" dirty="0"/>
          </a:p>
        </p:txBody>
      </p:sp>
      <p:sp>
        <p:nvSpPr>
          <p:cNvPr id="4" name="Shape 2"/>
          <p:cNvSpPr/>
          <p:nvPr/>
        </p:nvSpPr>
        <p:spPr>
          <a:xfrm>
            <a:off x="7315200" y="1234440"/>
            <a:ext cx="411480" cy="411480"/>
          </a:xfrm>
          <a:prstGeom prst="ellipse">
            <a:avLst/>
          </a:prstGeom>
          <a:solidFill>
            <a:srgbClr val="028090"/>
          </a:solidFill>
          <a:ln/>
        </p:spPr>
      </p:sp>
      <p:sp>
        <p:nvSpPr>
          <p:cNvPr id="5" name="Text 3"/>
          <p:cNvSpPr/>
          <p:nvPr/>
        </p:nvSpPr>
        <p:spPr>
          <a:xfrm>
            <a:off x="7315200" y="123444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G</a:t>
            </a:r>
            <a:endParaRPr lang="en-US" sz="1800" dirty="0"/>
          </a:p>
        </p:txBody>
      </p:sp>
      <p:sp>
        <p:nvSpPr>
          <p:cNvPr id="6" name="Text 4"/>
          <p:cNvSpPr/>
          <p:nvPr/>
        </p:nvSpPr>
        <p:spPr>
          <a:xfrm>
            <a:off x="7863840" y="1188720"/>
            <a:ext cx="3657600" cy="365760"/>
          </a:xfrm>
          <a:prstGeom prst="rect">
            <a:avLst/>
          </a:prstGeom>
          <a:noFill/>
          <a:ln/>
        </p:spPr>
        <p:txBody>
          <a:bodyPr wrap="square" rtlCol="0" anchor="ctr"/>
          <a:lstStyle/>
          <a:p>
            <a:pPr marL="0" indent="0">
              <a:buNone/>
            </a:pPr>
            <a:r>
              <a:rPr lang="en-US" sz="1600" b="1" dirty="0">
                <a:solidFill>
                  <a:srgbClr val="021A2E"/>
                </a:solidFill>
                <a:latin typeface="Calibri" pitchFamily="34" charset="0"/>
                <a:ea typeface="Calibri" pitchFamily="34" charset="-122"/>
                <a:cs typeface="Calibri" pitchFamily="34" charset="-120"/>
              </a:rPr>
              <a:t>Goal</a:t>
            </a:r>
            <a:endParaRPr lang="en-US" sz="1600" dirty="0"/>
          </a:p>
        </p:txBody>
      </p:sp>
      <p:sp>
        <p:nvSpPr>
          <p:cNvPr id="7" name="Text 5"/>
          <p:cNvSpPr/>
          <p:nvPr/>
        </p:nvSpPr>
        <p:spPr>
          <a:xfrm>
            <a:off x="7863840" y="1554480"/>
            <a:ext cx="3657600" cy="777240"/>
          </a:xfrm>
          <a:prstGeom prst="rect">
            <a:avLst/>
          </a:prstGeom>
          <a:noFill/>
          <a:ln/>
        </p:spPr>
        <p:txBody>
          <a:bodyPr wrap="square" rtlCol="0" anchor="ctr"/>
          <a:lstStyle/>
          <a:p>
            <a:pPr marL="0" indent="0">
              <a:buNone/>
            </a:pPr>
            <a:r>
              <a:rPr lang="en-US" sz="1200" dirty="0">
                <a:solidFill>
                  <a:srgbClr val="5A6E72"/>
                </a:solidFill>
                <a:latin typeface="Calibri" pitchFamily="34" charset="0"/>
                <a:ea typeface="Calibri" pitchFamily="34" charset="-122"/>
                <a:cs typeface="Calibri" pitchFamily="34" charset="-120"/>
              </a:rPr>
              <a:t>Identify the key factors driving customer churn and quantify their impact</a:t>
            </a:r>
            <a:endParaRPr lang="en-US" sz="1200" dirty="0"/>
          </a:p>
        </p:txBody>
      </p:sp>
      <p:sp>
        <p:nvSpPr>
          <p:cNvPr id="8" name="Shape 6"/>
          <p:cNvSpPr/>
          <p:nvPr/>
        </p:nvSpPr>
        <p:spPr>
          <a:xfrm>
            <a:off x="7315200" y="2468880"/>
            <a:ext cx="411480" cy="411480"/>
          </a:xfrm>
          <a:prstGeom prst="ellipse">
            <a:avLst/>
          </a:prstGeom>
          <a:solidFill>
            <a:srgbClr val="028090"/>
          </a:solidFill>
          <a:ln/>
        </p:spPr>
      </p:sp>
      <p:sp>
        <p:nvSpPr>
          <p:cNvPr id="9" name="Text 7"/>
          <p:cNvSpPr/>
          <p:nvPr/>
        </p:nvSpPr>
        <p:spPr>
          <a:xfrm>
            <a:off x="7315200" y="246888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0" name="Text 8"/>
          <p:cNvSpPr/>
          <p:nvPr/>
        </p:nvSpPr>
        <p:spPr>
          <a:xfrm>
            <a:off x="7863840" y="2423160"/>
            <a:ext cx="3657600" cy="365760"/>
          </a:xfrm>
          <a:prstGeom prst="rect">
            <a:avLst/>
          </a:prstGeom>
          <a:noFill/>
          <a:ln/>
        </p:spPr>
        <p:txBody>
          <a:bodyPr wrap="square" rtlCol="0" anchor="ctr"/>
          <a:lstStyle/>
          <a:p>
            <a:pPr marL="0" indent="0">
              <a:buNone/>
            </a:pPr>
            <a:r>
              <a:rPr lang="en-US" sz="1600" b="1" dirty="0">
                <a:solidFill>
                  <a:srgbClr val="021A2E"/>
                </a:solidFill>
                <a:latin typeface="Calibri" pitchFamily="34" charset="0"/>
                <a:ea typeface="Calibri" pitchFamily="34" charset="-122"/>
                <a:cs typeface="Calibri" pitchFamily="34" charset="-120"/>
              </a:rPr>
              <a:t>Data</a:t>
            </a:r>
            <a:endParaRPr lang="en-US" sz="1600" dirty="0"/>
          </a:p>
        </p:txBody>
      </p:sp>
      <p:sp>
        <p:nvSpPr>
          <p:cNvPr id="11" name="Text 9"/>
          <p:cNvSpPr/>
          <p:nvPr/>
        </p:nvSpPr>
        <p:spPr>
          <a:xfrm>
            <a:off x="7863840" y="2788920"/>
            <a:ext cx="3657600" cy="777240"/>
          </a:xfrm>
          <a:prstGeom prst="rect">
            <a:avLst/>
          </a:prstGeom>
          <a:noFill/>
          <a:ln/>
        </p:spPr>
        <p:txBody>
          <a:bodyPr wrap="square" rtlCol="0" anchor="ctr"/>
          <a:lstStyle/>
          <a:p>
            <a:pPr marL="0" indent="0">
              <a:buNone/>
            </a:pPr>
            <a:r>
              <a:rPr lang="en-US" sz="1200" dirty="0">
                <a:solidFill>
                  <a:srgbClr val="5A6E72"/>
                </a:solidFill>
                <a:latin typeface="Calibri" pitchFamily="34" charset="0"/>
                <a:ea typeface="Calibri" pitchFamily="34" charset="-122"/>
                <a:cs typeface="Calibri" pitchFamily="34" charset="-120"/>
              </a:rPr>
              <a:t>10,000 customer records with demographics, account &amp; product details</a:t>
            </a:r>
            <a:endParaRPr lang="en-US" sz="1200" dirty="0"/>
          </a:p>
        </p:txBody>
      </p:sp>
      <p:sp>
        <p:nvSpPr>
          <p:cNvPr id="12" name="Shape 10"/>
          <p:cNvSpPr/>
          <p:nvPr/>
        </p:nvSpPr>
        <p:spPr>
          <a:xfrm>
            <a:off x="7315200" y="3703320"/>
            <a:ext cx="411480" cy="411480"/>
          </a:xfrm>
          <a:prstGeom prst="ellipse">
            <a:avLst/>
          </a:prstGeom>
          <a:solidFill>
            <a:srgbClr val="028090"/>
          </a:solidFill>
          <a:ln/>
        </p:spPr>
      </p:sp>
      <p:sp>
        <p:nvSpPr>
          <p:cNvPr id="13" name="Text 11"/>
          <p:cNvSpPr/>
          <p:nvPr/>
        </p:nvSpPr>
        <p:spPr>
          <a:xfrm>
            <a:off x="7315200" y="370332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T</a:t>
            </a:r>
            <a:endParaRPr lang="en-US" sz="1800" dirty="0"/>
          </a:p>
        </p:txBody>
      </p:sp>
      <p:sp>
        <p:nvSpPr>
          <p:cNvPr id="14" name="Text 12"/>
          <p:cNvSpPr/>
          <p:nvPr/>
        </p:nvSpPr>
        <p:spPr>
          <a:xfrm>
            <a:off x="7863840" y="3657600"/>
            <a:ext cx="3657600" cy="365760"/>
          </a:xfrm>
          <a:prstGeom prst="rect">
            <a:avLst/>
          </a:prstGeom>
          <a:noFill/>
          <a:ln/>
        </p:spPr>
        <p:txBody>
          <a:bodyPr wrap="square" rtlCol="0" anchor="ctr"/>
          <a:lstStyle/>
          <a:p>
            <a:pPr marL="0" indent="0">
              <a:buNone/>
            </a:pPr>
            <a:r>
              <a:rPr lang="en-US" sz="1600" b="1" dirty="0">
                <a:solidFill>
                  <a:srgbClr val="021A2E"/>
                </a:solidFill>
                <a:latin typeface="Calibri" pitchFamily="34" charset="0"/>
                <a:ea typeface="Calibri" pitchFamily="34" charset="-122"/>
                <a:cs typeface="Calibri" pitchFamily="34" charset="-120"/>
              </a:rPr>
              <a:t>Tools</a:t>
            </a:r>
            <a:endParaRPr lang="en-US" sz="1600" dirty="0"/>
          </a:p>
        </p:txBody>
      </p:sp>
      <p:sp>
        <p:nvSpPr>
          <p:cNvPr id="15" name="Text 13"/>
          <p:cNvSpPr/>
          <p:nvPr/>
        </p:nvSpPr>
        <p:spPr>
          <a:xfrm>
            <a:off x="7863840" y="4023360"/>
            <a:ext cx="3657600" cy="777240"/>
          </a:xfrm>
          <a:prstGeom prst="rect">
            <a:avLst/>
          </a:prstGeom>
          <a:noFill/>
          <a:ln/>
        </p:spPr>
        <p:txBody>
          <a:bodyPr wrap="square" rtlCol="0" anchor="ctr"/>
          <a:lstStyle/>
          <a:p>
            <a:pPr marL="0" indent="0">
              <a:buNone/>
            </a:pPr>
            <a:r>
              <a:rPr lang="en-US" sz="1200" dirty="0">
                <a:solidFill>
                  <a:srgbClr val="5A6E72"/>
                </a:solidFill>
                <a:latin typeface="Calibri" pitchFamily="34" charset="0"/>
                <a:ea typeface="Calibri" pitchFamily="34" charset="-122"/>
                <a:cs typeface="Calibri" pitchFamily="34" charset="-120"/>
              </a:rPr>
              <a:t>PostgreSQL for analysis queries, Power BI for the interactive dashboard</a:t>
            </a:r>
            <a:endParaRPr lang="en-US" sz="1200" dirty="0"/>
          </a:p>
        </p:txBody>
      </p:sp>
      <p:sp>
        <p:nvSpPr>
          <p:cNvPr id="16" name="Shape 14"/>
          <p:cNvSpPr/>
          <p:nvPr/>
        </p:nvSpPr>
        <p:spPr>
          <a:xfrm>
            <a:off x="7315200" y="4937760"/>
            <a:ext cx="411480" cy="411480"/>
          </a:xfrm>
          <a:prstGeom prst="ellipse">
            <a:avLst/>
          </a:prstGeom>
          <a:solidFill>
            <a:srgbClr val="028090"/>
          </a:solidFill>
          <a:ln/>
        </p:spPr>
      </p:sp>
      <p:sp>
        <p:nvSpPr>
          <p:cNvPr id="17" name="Text 15"/>
          <p:cNvSpPr/>
          <p:nvPr/>
        </p:nvSpPr>
        <p:spPr>
          <a:xfrm>
            <a:off x="7315200" y="493776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O</a:t>
            </a:r>
            <a:endParaRPr lang="en-US" sz="1800" dirty="0"/>
          </a:p>
        </p:txBody>
      </p:sp>
      <p:sp>
        <p:nvSpPr>
          <p:cNvPr id="18" name="Text 16"/>
          <p:cNvSpPr/>
          <p:nvPr/>
        </p:nvSpPr>
        <p:spPr>
          <a:xfrm>
            <a:off x="7863840" y="4892040"/>
            <a:ext cx="3657600" cy="365760"/>
          </a:xfrm>
          <a:prstGeom prst="rect">
            <a:avLst/>
          </a:prstGeom>
          <a:noFill/>
          <a:ln/>
        </p:spPr>
        <p:txBody>
          <a:bodyPr wrap="square" rtlCol="0" anchor="ctr"/>
          <a:lstStyle/>
          <a:p>
            <a:pPr marL="0" indent="0">
              <a:buNone/>
            </a:pPr>
            <a:r>
              <a:rPr lang="en-US" sz="1600" b="1" dirty="0">
                <a:solidFill>
                  <a:srgbClr val="021A2E"/>
                </a:solidFill>
                <a:latin typeface="Calibri" pitchFamily="34" charset="0"/>
                <a:ea typeface="Calibri" pitchFamily="34" charset="-122"/>
                <a:cs typeface="Calibri" pitchFamily="34" charset="-120"/>
              </a:rPr>
              <a:t>Outcome</a:t>
            </a:r>
            <a:endParaRPr lang="en-US" sz="1600" dirty="0"/>
          </a:p>
        </p:txBody>
      </p:sp>
      <p:sp>
        <p:nvSpPr>
          <p:cNvPr id="19" name="Text 17"/>
          <p:cNvSpPr/>
          <p:nvPr/>
        </p:nvSpPr>
        <p:spPr>
          <a:xfrm>
            <a:off x="7863840" y="5257800"/>
            <a:ext cx="3657600" cy="777240"/>
          </a:xfrm>
          <a:prstGeom prst="rect">
            <a:avLst/>
          </a:prstGeom>
          <a:noFill/>
          <a:ln/>
        </p:spPr>
        <p:txBody>
          <a:bodyPr wrap="square" rtlCol="0" anchor="ctr"/>
          <a:lstStyle/>
          <a:p>
            <a:pPr marL="0" indent="0">
              <a:buNone/>
            </a:pPr>
            <a:r>
              <a:rPr lang="en-US" sz="1200" dirty="0">
                <a:solidFill>
                  <a:srgbClr val="5A6E72"/>
                </a:solidFill>
                <a:latin typeface="Calibri" pitchFamily="34" charset="0"/>
                <a:ea typeface="Calibri" pitchFamily="34" charset="-122"/>
                <a:cs typeface="Calibri" pitchFamily="34" charset="-120"/>
              </a:rPr>
              <a:t>Actionable insights to support targeted retention strategies</a:t>
            </a:r>
            <a:endParaRPr lang="en-US" sz="1200" dirty="0"/>
          </a:p>
        </p:txBody>
      </p:sp>
      <p:sp>
        <p:nvSpPr>
          <p:cNvPr id="20" name="Text 18"/>
          <p:cNvSpPr/>
          <p:nvPr/>
        </p:nvSpPr>
        <p:spPr>
          <a:xfrm>
            <a:off x="11548872" y="6355080"/>
            <a:ext cx="457200" cy="320040"/>
          </a:xfrm>
          <a:prstGeom prst="rect">
            <a:avLst/>
          </a:prstGeom>
          <a:noFill/>
          <a:ln/>
        </p:spPr>
        <p:txBody>
          <a:bodyPr wrap="square" rtlCol="0" anchor="ctr"/>
          <a:lstStyle/>
          <a:p>
            <a:pPr marL="0" indent="0" algn="r">
              <a:buNone/>
            </a:pPr>
            <a:r>
              <a:rPr lang="en-US" sz="1100" dirty="0">
                <a:solidFill>
                  <a:srgbClr val="5A6E72"/>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A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822960"/>
          </a:xfrm>
          <a:prstGeom prst="rect">
            <a:avLst/>
          </a:prstGeom>
          <a:noFill/>
          <a:ln/>
        </p:spPr>
        <p:txBody>
          <a:bodyPr wrap="square" lIns="0" tIns="0" rIns="0" bIns="0" rtlCol="0" anchor="ctr"/>
          <a:lstStyle/>
          <a:p>
            <a:pPr marL="0" indent="0">
              <a:buNone/>
            </a:pPr>
            <a:r>
              <a:rPr lang="en-US" sz="3200" b="1" dirty="0">
                <a:solidFill>
                  <a:srgbClr val="021A2E"/>
                </a:solidFill>
                <a:latin typeface="Calibri" pitchFamily="34" charset="0"/>
                <a:ea typeface="Calibri" pitchFamily="34" charset="-122"/>
                <a:cs typeface="Calibri" pitchFamily="34" charset="-120"/>
              </a:rPr>
              <a:t>Headline Numbers</a:t>
            </a:r>
            <a:endParaRPr lang="en-US" sz="3200" dirty="0"/>
          </a:p>
        </p:txBody>
      </p:sp>
      <p:sp>
        <p:nvSpPr>
          <p:cNvPr id="3" name="Shape 1"/>
          <p:cNvSpPr/>
          <p:nvPr/>
        </p:nvSpPr>
        <p:spPr>
          <a:xfrm>
            <a:off x="548640" y="1463040"/>
            <a:ext cx="2606040" cy="2194560"/>
          </a:xfrm>
          <a:prstGeom prst="roundRect">
            <a:avLst>
              <a:gd name="adj" fmla="val 3333"/>
            </a:avLst>
          </a:prstGeom>
          <a:solidFill>
            <a:schemeClr val="bg1">
              <a:lumMod val="85000"/>
            </a:schemeClr>
          </a:solidFill>
          <a:ln/>
          <a:effectLst>
            <a:outerShdw blurRad="101600" dist="38100" dir="5400000" algn="bl" rotWithShape="0">
              <a:srgbClr val="000000">
                <a:alpha val="12000"/>
              </a:srgbClr>
            </a:outerShdw>
          </a:effectLst>
        </p:spPr>
      </p:sp>
      <p:sp>
        <p:nvSpPr>
          <p:cNvPr id="4" name="Text 2"/>
          <p:cNvSpPr/>
          <p:nvPr/>
        </p:nvSpPr>
        <p:spPr>
          <a:xfrm>
            <a:off x="548640" y="1737360"/>
            <a:ext cx="2606040" cy="1005840"/>
          </a:xfrm>
          <a:prstGeom prst="rect">
            <a:avLst/>
          </a:prstGeom>
          <a:noFill/>
          <a:ln/>
        </p:spPr>
        <p:txBody>
          <a:bodyPr wrap="square" lIns="0" tIns="0" rIns="0" bIns="0" rtlCol="0" anchor="ctr"/>
          <a:lstStyle/>
          <a:p>
            <a:pPr marL="0" indent="0" algn="ctr">
              <a:buNone/>
            </a:pPr>
            <a:r>
              <a:rPr lang="en-US" sz="3400" b="1" dirty="0">
                <a:solidFill>
                  <a:srgbClr val="028090"/>
                </a:solidFill>
                <a:latin typeface="Calibri" pitchFamily="34" charset="0"/>
                <a:ea typeface="Calibri" pitchFamily="34" charset="-122"/>
                <a:cs typeface="Calibri" pitchFamily="34" charset="-120"/>
              </a:rPr>
              <a:t>10,000</a:t>
            </a:r>
            <a:endParaRPr lang="en-US" sz="3400" dirty="0"/>
          </a:p>
        </p:txBody>
      </p:sp>
      <p:sp>
        <p:nvSpPr>
          <p:cNvPr id="5" name="Text 3"/>
          <p:cNvSpPr/>
          <p:nvPr/>
        </p:nvSpPr>
        <p:spPr>
          <a:xfrm>
            <a:off x="548640" y="2788920"/>
            <a:ext cx="2606040" cy="640080"/>
          </a:xfrm>
          <a:prstGeom prst="rect">
            <a:avLst/>
          </a:prstGeom>
          <a:noFill/>
          <a:ln/>
        </p:spPr>
        <p:txBody>
          <a:bodyPr wrap="square" lIns="0" tIns="0" rIns="0" bIns="0" rtlCol="0" anchor="ctr"/>
          <a:lstStyle/>
          <a:p>
            <a:pPr marL="0" indent="0" algn="ctr">
              <a:buNone/>
            </a:pPr>
            <a:r>
              <a:rPr lang="en-US" sz="1400" dirty="0">
                <a:solidFill>
                  <a:srgbClr val="5A6E72"/>
                </a:solidFill>
                <a:latin typeface="Calibri" pitchFamily="34" charset="0"/>
                <a:ea typeface="Calibri" pitchFamily="34" charset="-122"/>
                <a:cs typeface="Calibri" pitchFamily="34" charset="-120"/>
              </a:rPr>
              <a:t>Total Customers</a:t>
            </a:r>
            <a:endParaRPr lang="en-US" sz="1400" dirty="0"/>
          </a:p>
        </p:txBody>
      </p:sp>
      <p:sp>
        <p:nvSpPr>
          <p:cNvPr id="6" name="Shape 4"/>
          <p:cNvSpPr/>
          <p:nvPr/>
        </p:nvSpPr>
        <p:spPr>
          <a:xfrm>
            <a:off x="3383280" y="1463040"/>
            <a:ext cx="2606040" cy="2194560"/>
          </a:xfrm>
          <a:prstGeom prst="roundRect">
            <a:avLst>
              <a:gd name="adj" fmla="val 3333"/>
            </a:avLst>
          </a:prstGeom>
          <a:solidFill>
            <a:srgbClr val="FFFFFF"/>
          </a:solidFill>
          <a:ln/>
          <a:effectLst>
            <a:outerShdw blurRad="101600" dist="38100" dir="5400000" algn="bl" rotWithShape="0">
              <a:srgbClr val="000000">
                <a:alpha val="12000"/>
              </a:srgbClr>
            </a:outerShdw>
          </a:effectLst>
        </p:spPr>
      </p:sp>
      <p:sp>
        <p:nvSpPr>
          <p:cNvPr id="7" name="Text 5"/>
          <p:cNvSpPr/>
          <p:nvPr/>
        </p:nvSpPr>
        <p:spPr>
          <a:xfrm>
            <a:off x="3383280" y="1737360"/>
            <a:ext cx="2606040" cy="1005840"/>
          </a:xfrm>
          <a:prstGeom prst="rect">
            <a:avLst/>
          </a:prstGeom>
          <a:noFill/>
          <a:ln/>
        </p:spPr>
        <p:txBody>
          <a:bodyPr wrap="square" lIns="0" tIns="0" rIns="0" bIns="0" rtlCol="0" anchor="ctr"/>
          <a:lstStyle/>
          <a:p>
            <a:pPr marL="0" indent="0" algn="ctr">
              <a:buNone/>
            </a:pPr>
            <a:r>
              <a:rPr lang="en-US" sz="3400" b="1" dirty="0">
                <a:solidFill>
                  <a:srgbClr val="028090"/>
                </a:solidFill>
                <a:latin typeface="Calibri" pitchFamily="34" charset="0"/>
                <a:ea typeface="Calibri" pitchFamily="34" charset="-122"/>
                <a:cs typeface="Calibri" pitchFamily="34" charset="-120"/>
              </a:rPr>
              <a:t>2,037</a:t>
            </a:r>
            <a:endParaRPr lang="en-US" sz="3400" dirty="0"/>
          </a:p>
        </p:txBody>
      </p:sp>
      <p:sp>
        <p:nvSpPr>
          <p:cNvPr id="8" name="Text 6"/>
          <p:cNvSpPr/>
          <p:nvPr/>
        </p:nvSpPr>
        <p:spPr>
          <a:xfrm>
            <a:off x="3383280" y="2788920"/>
            <a:ext cx="2606040" cy="640080"/>
          </a:xfrm>
          <a:prstGeom prst="rect">
            <a:avLst/>
          </a:prstGeom>
          <a:noFill/>
          <a:ln/>
        </p:spPr>
        <p:txBody>
          <a:bodyPr wrap="square" lIns="0" tIns="0" rIns="0" bIns="0" rtlCol="0" anchor="ctr"/>
          <a:lstStyle/>
          <a:p>
            <a:pPr marL="0" indent="0" algn="ctr">
              <a:buNone/>
            </a:pPr>
            <a:r>
              <a:rPr lang="en-US" sz="1400" dirty="0">
                <a:solidFill>
                  <a:srgbClr val="5A6E72"/>
                </a:solidFill>
                <a:latin typeface="Calibri" pitchFamily="34" charset="0"/>
                <a:ea typeface="Calibri" pitchFamily="34" charset="-122"/>
                <a:cs typeface="Calibri" pitchFamily="34" charset="-120"/>
              </a:rPr>
              <a:t>Churned Customers</a:t>
            </a:r>
            <a:endParaRPr lang="en-US" sz="1400" dirty="0"/>
          </a:p>
        </p:txBody>
      </p:sp>
      <p:sp>
        <p:nvSpPr>
          <p:cNvPr id="9" name="Shape 7"/>
          <p:cNvSpPr/>
          <p:nvPr/>
        </p:nvSpPr>
        <p:spPr>
          <a:xfrm>
            <a:off x="6217920" y="1463040"/>
            <a:ext cx="2606040" cy="2194560"/>
          </a:xfrm>
          <a:prstGeom prst="roundRect">
            <a:avLst>
              <a:gd name="adj" fmla="val 3333"/>
            </a:avLst>
          </a:prstGeom>
          <a:solidFill>
            <a:schemeClr val="bg1">
              <a:lumMod val="85000"/>
            </a:schemeClr>
          </a:solidFill>
          <a:ln/>
          <a:effectLst>
            <a:outerShdw blurRad="101600" dist="38100" dir="5400000" algn="bl" rotWithShape="0">
              <a:srgbClr val="000000">
                <a:alpha val="12000"/>
              </a:srgbClr>
            </a:outerShdw>
          </a:effectLst>
        </p:spPr>
      </p:sp>
      <p:sp>
        <p:nvSpPr>
          <p:cNvPr id="10" name="Text 8"/>
          <p:cNvSpPr/>
          <p:nvPr/>
        </p:nvSpPr>
        <p:spPr>
          <a:xfrm>
            <a:off x="6217920" y="1737360"/>
            <a:ext cx="2606040" cy="1005840"/>
          </a:xfrm>
          <a:prstGeom prst="rect">
            <a:avLst/>
          </a:prstGeom>
          <a:noFill/>
          <a:ln/>
        </p:spPr>
        <p:txBody>
          <a:bodyPr wrap="square" lIns="0" tIns="0" rIns="0" bIns="0" rtlCol="0" anchor="ctr"/>
          <a:lstStyle/>
          <a:p>
            <a:pPr marL="0" indent="0" algn="ctr">
              <a:buNone/>
            </a:pPr>
            <a:r>
              <a:rPr lang="en-US" sz="3400" b="1" dirty="0">
                <a:solidFill>
                  <a:srgbClr val="028090"/>
                </a:solidFill>
                <a:latin typeface="Calibri" pitchFamily="34" charset="0"/>
                <a:ea typeface="Calibri" pitchFamily="34" charset="-122"/>
                <a:cs typeface="Calibri" pitchFamily="34" charset="-120"/>
              </a:rPr>
              <a:t>20.37%</a:t>
            </a:r>
            <a:endParaRPr lang="en-US" sz="3400" dirty="0"/>
          </a:p>
        </p:txBody>
      </p:sp>
      <p:sp>
        <p:nvSpPr>
          <p:cNvPr id="11" name="Text 9"/>
          <p:cNvSpPr/>
          <p:nvPr/>
        </p:nvSpPr>
        <p:spPr>
          <a:xfrm>
            <a:off x="6217920" y="2788920"/>
            <a:ext cx="2606040" cy="640080"/>
          </a:xfrm>
          <a:prstGeom prst="rect">
            <a:avLst/>
          </a:prstGeom>
          <a:noFill/>
          <a:ln/>
        </p:spPr>
        <p:txBody>
          <a:bodyPr wrap="square" lIns="0" tIns="0" rIns="0" bIns="0" rtlCol="0" anchor="ctr"/>
          <a:lstStyle/>
          <a:p>
            <a:pPr marL="0" indent="0" algn="ctr">
              <a:buNone/>
            </a:pPr>
            <a:r>
              <a:rPr lang="en-US" sz="1400" dirty="0">
                <a:solidFill>
                  <a:srgbClr val="5A6E72"/>
                </a:solidFill>
                <a:latin typeface="Calibri" pitchFamily="34" charset="0"/>
                <a:ea typeface="Calibri" pitchFamily="34" charset="-122"/>
                <a:cs typeface="Calibri" pitchFamily="34" charset="-120"/>
              </a:rPr>
              <a:t>Overall Churn Rate</a:t>
            </a:r>
            <a:endParaRPr lang="en-US" sz="1400" dirty="0"/>
          </a:p>
        </p:txBody>
      </p:sp>
      <p:sp>
        <p:nvSpPr>
          <p:cNvPr id="12" name="Shape 10"/>
          <p:cNvSpPr/>
          <p:nvPr/>
        </p:nvSpPr>
        <p:spPr>
          <a:xfrm>
            <a:off x="9052560" y="1463040"/>
            <a:ext cx="2606040" cy="2194560"/>
          </a:xfrm>
          <a:prstGeom prst="roundRect">
            <a:avLst>
              <a:gd name="adj" fmla="val 3333"/>
            </a:avLst>
          </a:prstGeom>
          <a:solidFill>
            <a:srgbClr val="FFFFFF"/>
          </a:solidFill>
          <a:ln/>
          <a:effectLst>
            <a:outerShdw blurRad="101600" dist="38100" dir="5400000" algn="bl" rotWithShape="0">
              <a:srgbClr val="000000">
                <a:alpha val="12000"/>
              </a:srgbClr>
            </a:outerShdw>
          </a:effectLst>
        </p:spPr>
      </p:sp>
      <p:sp>
        <p:nvSpPr>
          <p:cNvPr id="13" name="Text 11"/>
          <p:cNvSpPr/>
          <p:nvPr/>
        </p:nvSpPr>
        <p:spPr>
          <a:xfrm>
            <a:off x="9052560" y="1737360"/>
            <a:ext cx="2606040" cy="1005840"/>
          </a:xfrm>
          <a:prstGeom prst="rect">
            <a:avLst/>
          </a:prstGeom>
          <a:noFill/>
          <a:ln/>
        </p:spPr>
        <p:txBody>
          <a:bodyPr wrap="square" lIns="0" tIns="0" rIns="0" bIns="0" rtlCol="0" anchor="ctr"/>
          <a:lstStyle/>
          <a:p>
            <a:pPr marL="0" indent="0" algn="ctr">
              <a:buNone/>
            </a:pPr>
            <a:r>
              <a:rPr lang="en-US" sz="3400" b="1" dirty="0">
                <a:solidFill>
                  <a:srgbClr val="028090"/>
                </a:solidFill>
                <a:latin typeface="Calibri" pitchFamily="34" charset="0"/>
                <a:ea typeface="Calibri" pitchFamily="34" charset="-122"/>
                <a:cs typeface="Calibri" pitchFamily="34" charset="-120"/>
              </a:rPr>
              <a:t>$2.86B</a:t>
            </a:r>
            <a:endParaRPr lang="en-US" sz="3400" dirty="0"/>
          </a:p>
        </p:txBody>
      </p:sp>
      <p:sp>
        <p:nvSpPr>
          <p:cNvPr id="14" name="Text 12"/>
          <p:cNvSpPr/>
          <p:nvPr/>
        </p:nvSpPr>
        <p:spPr>
          <a:xfrm>
            <a:off x="9052560" y="2788920"/>
            <a:ext cx="2606040" cy="640080"/>
          </a:xfrm>
          <a:prstGeom prst="rect">
            <a:avLst/>
          </a:prstGeom>
          <a:noFill/>
          <a:ln/>
        </p:spPr>
        <p:txBody>
          <a:bodyPr wrap="square" lIns="0" tIns="0" rIns="0" bIns="0" rtlCol="0" anchor="ctr"/>
          <a:lstStyle/>
          <a:p>
            <a:pPr marL="0" indent="0" algn="ctr">
              <a:buNone/>
            </a:pPr>
            <a:r>
              <a:rPr lang="en-US" sz="1400" dirty="0">
                <a:solidFill>
                  <a:srgbClr val="5A6E72"/>
                </a:solidFill>
                <a:latin typeface="Calibri" pitchFamily="34" charset="0"/>
                <a:ea typeface="Calibri" pitchFamily="34" charset="-122"/>
                <a:cs typeface="Calibri" pitchFamily="34" charset="-120"/>
              </a:rPr>
              <a:t>Balance Lost to Churn</a:t>
            </a:r>
            <a:endParaRPr lang="en-US" sz="1400" dirty="0"/>
          </a:p>
        </p:txBody>
      </p:sp>
      <p:sp>
        <p:nvSpPr>
          <p:cNvPr id="15" name="Text 13"/>
          <p:cNvSpPr/>
          <p:nvPr/>
        </p:nvSpPr>
        <p:spPr>
          <a:xfrm>
            <a:off x="548640" y="4023360"/>
            <a:ext cx="11064240" cy="731520"/>
          </a:xfrm>
          <a:prstGeom prst="rect">
            <a:avLst/>
          </a:prstGeom>
          <a:noFill/>
          <a:ln/>
        </p:spPr>
        <p:txBody>
          <a:bodyPr wrap="square" rtlCol="0" anchor="ctr"/>
          <a:lstStyle/>
          <a:p>
            <a:pPr marL="0" indent="0" algn="ctr">
              <a:buNone/>
            </a:pPr>
            <a:r>
              <a:rPr lang="en-US" sz="1500" i="1" dirty="0">
                <a:solidFill>
                  <a:srgbClr val="1B3A4B"/>
                </a:solidFill>
                <a:latin typeface="Calibri" pitchFamily="34" charset="0"/>
                <a:ea typeface="Calibri" pitchFamily="34" charset="-122"/>
                <a:cs typeface="Calibri" pitchFamily="34" charset="-120"/>
              </a:rPr>
              <a:t>1 in 5 customers leaves the bank — and Germany, female customers, and inactive members churn at far higher-than-average rates (details ahead).</a:t>
            </a:r>
            <a:endParaRPr lang="en-US" sz="1500" dirty="0"/>
          </a:p>
        </p:txBody>
      </p:sp>
      <p:sp>
        <p:nvSpPr>
          <p:cNvPr id="16" name="Text 14"/>
          <p:cNvSpPr/>
          <p:nvPr/>
        </p:nvSpPr>
        <p:spPr>
          <a:xfrm>
            <a:off x="11548872" y="6355080"/>
            <a:ext cx="457200" cy="320040"/>
          </a:xfrm>
          <a:prstGeom prst="rect">
            <a:avLst/>
          </a:prstGeom>
          <a:noFill/>
          <a:ln/>
        </p:spPr>
        <p:txBody>
          <a:bodyPr wrap="square" rtlCol="0" anchor="ctr"/>
          <a:lstStyle/>
          <a:p>
            <a:pPr marL="0" indent="0" algn="r">
              <a:buNone/>
            </a:pPr>
            <a:r>
              <a:rPr lang="en-US" sz="1100" dirty="0">
                <a:solidFill>
                  <a:srgbClr val="5A6E72"/>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822960"/>
          </a:xfrm>
          <a:prstGeom prst="rect">
            <a:avLst/>
          </a:prstGeom>
          <a:noFill/>
          <a:ln/>
        </p:spPr>
        <p:txBody>
          <a:bodyPr wrap="square" lIns="0" tIns="0" rIns="0" bIns="0" rtlCol="0" anchor="ctr"/>
          <a:lstStyle/>
          <a:p>
            <a:pPr marL="0" indent="0">
              <a:buNone/>
            </a:pPr>
            <a:r>
              <a:rPr lang="en-US" sz="3200" b="1" dirty="0">
                <a:solidFill>
                  <a:srgbClr val="021A2E"/>
                </a:solidFill>
                <a:latin typeface="Calibri" pitchFamily="34" charset="0"/>
                <a:ea typeface="Calibri" pitchFamily="34" charset="-122"/>
                <a:cs typeface="Calibri" pitchFamily="34" charset="-120"/>
              </a:rPr>
              <a:t>Churn by Gender</a:t>
            </a:r>
            <a:endParaRPr lang="en-US" sz="3200" dirty="0"/>
          </a:p>
        </p:txBody>
      </p:sp>
      <p:sp>
        <p:nvSpPr>
          <p:cNvPr id="5" name="Text 1"/>
          <p:cNvSpPr/>
          <p:nvPr/>
        </p:nvSpPr>
        <p:spPr>
          <a:xfrm>
            <a:off x="6278880" y="1062446"/>
            <a:ext cx="4772297" cy="3723441"/>
          </a:xfrm>
          <a:prstGeom prst="rect">
            <a:avLst/>
          </a:prstGeom>
          <a:noFill/>
          <a:ln/>
        </p:spPr>
        <p:txBody>
          <a:bodyPr wrap="square" rtlCol="0" anchor="ctr"/>
          <a:lstStyle/>
          <a:p>
            <a:r>
              <a:rPr lang="en-IN" sz="2000" dirty="0"/>
              <a:t>Targeted products, personalized offers, and retention strategies focused on this age segment can improve customer engagement and reduce churn risk while maximizing long-term customer value.</a:t>
            </a:r>
            <a:endParaRPr lang="en-US" sz="2000" dirty="0"/>
          </a:p>
        </p:txBody>
      </p:sp>
      <p:sp>
        <p:nvSpPr>
          <p:cNvPr id="6" name="Text 2"/>
          <p:cNvSpPr/>
          <p:nvPr/>
        </p:nvSpPr>
        <p:spPr>
          <a:xfrm>
            <a:off x="11548872" y="6355080"/>
            <a:ext cx="457200" cy="320040"/>
          </a:xfrm>
          <a:prstGeom prst="rect">
            <a:avLst/>
          </a:prstGeom>
          <a:noFill/>
          <a:ln/>
        </p:spPr>
        <p:txBody>
          <a:bodyPr wrap="square" rtlCol="0" anchor="ctr"/>
          <a:lstStyle/>
          <a:p>
            <a:pPr marL="0" indent="0" algn="r">
              <a:buNone/>
            </a:pPr>
            <a:r>
              <a:rPr lang="en-US" sz="1100" dirty="0">
                <a:solidFill>
                  <a:srgbClr val="5A6E72"/>
                </a:solidFill>
                <a:latin typeface="Calibri" pitchFamily="34" charset="0"/>
                <a:ea typeface="Calibri" pitchFamily="34" charset="-122"/>
                <a:cs typeface="Calibri" pitchFamily="34" charset="-120"/>
              </a:rPr>
              <a:t>4</a:t>
            </a:r>
            <a:endParaRPr lang="en-US" sz="1100" dirty="0"/>
          </a:p>
        </p:txBody>
      </p:sp>
      <p:pic>
        <p:nvPicPr>
          <p:cNvPr id="8" name="Picture 7">
            <a:extLst>
              <a:ext uri="{FF2B5EF4-FFF2-40B4-BE49-F238E27FC236}">
                <a16:creationId xmlns:a16="http://schemas.microsoft.com/office/drawing/2014/main" id="{663B5970-489A-DFCF-5965-74B973A3D498}"/>
              </a:ext>
            </a:extLst>
          </p:cNvPr>
          <p:cNvPicPr>
            <a:picLocks noChangeAspect="1"/>
          </p:cNvPicPr>
          <p:nvPr/>
        </p:nvPicPr>
        <p:blipFill>
          <a:blip r:embed="rId3"/>
          <a:srcRect l="1439" t="66476" r="67051"/>
          <a:stretch>
            <a:fillRect/>
          </a:stretch>
        </p:blipFill>
        <p:spPr>
          <a:xfrm>
            <a:off x="176341" y="1308380"/>
            <a:ext cx="5832573" cy="34775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822960"/>
          </a:xfrm>
          <a:prstGeom prst="rect">
            <a:avLst/>
          </a:prstGeom>
          <a:noFill/>
          <a:ln/>
        </p:spPr>
        <p:txBody>
          <a:bodyPr wrap="square" lIns="0" tIns="0" rIns="0" bIns="0" rtlCol="0" anchor="ctr"/>
          <a:lstStyle/>
          <a:p>
            <a:pPr marL="0" indent="0">
              <a:buNone/>
            </a:pPr>
            <a:r>
              <a:rPr lang="en-US" sz="3200" b="1" dirty="0">
                <a:solidFill>
                  <a:srgbClr val="021A2E"/>
                </a:solidFill>
                <a:latin typeface="Calibri" pitchFamily="34" charset="0"/>
                <a:ea typeface="Calibri" pitchFamily="34" charset="-122"/>
                <a:cs typeface="Calibri" pitchFamily="34" charset="-120"/>
              </a:rPr>
              <a:t>Engagement &amp; Product Holding</a:t>
            </a:r>
            <a:endParaRPr lang="en-US" sz="3200" dirty="0"/>
          </a:p>
        </p:txBody>
      </p:sp>
      <p:sp>
        <p:nvSpPr>
          <p:cNvPr id="5" name="Text 1"/>
          <p:cNvSpPr/>
          <p:nvPr/>
        </p:nvSpPr>
        <p:spPr>
          <a:xfrm>
            <a:off x="548640" y="4892040"/>
            <a:ext cx="11064240" cy="914400"/>
          </a:xfrm>
          <a:prstGeom prst="rect">
            <a:avLst/>
          </a:prstGeom>
          <a:noFill/>
          <a:ln/>
        </p:spPr>
        <p:txBody>
          <a:bodyPr wrap="square" rtlCol="0" anchor="ctr"/>
          <a:lstStyle/>
          <a:p>
            <a:pPr marL="0" indent="0">
              <a:buNone/>
            </a:pPr>
            <a:endParaRPr lang="en-US" sz="1400" dirty="0"/>
          </a:p>
        </p:txBody>
      </p:sp>
      <p:sp>
        <p:nvSpPr>
          <p:cNvPr id="6" name="Text 2"/>
          <p:cNvSpPr/>
          <p:nvPr/>
        </p:nvSpPr>
        <p:spPr>
          <a:xfrm>
            <a:off x="11548872" y="6355080"/>
            <a:ext cx="457200" cy="320040"/>
          </a:xfrm>
          <a:prstGeom prst="rect">
            <a:avLst/>
          </a:prstGeom>
          <a:noFill/>
          <a:ln/>
        </p:spPr>
        <p:txBody>
          <a:bodyPr wrap="square" rtlCol="0" anchor="ctr"/>
          <a:lstStyle/>
          <a:p>
            <a:pPr marL="0" indent="0" algn="r">
              <a:buNone/>
            </a:pPr>
            <a:r>
              <a:rPr lang="en-US" sz="1100" dirty="0">
                <a:solidFill>
                  <a:srgbClr val="5A6E72"/>
                </a:solidFill>
                <a:latin typeface="Calibri" pitchFamily="34" charset="0"/>
                <a:ea typeface="Calibri" pitchFamily="34" charset="-122"/>
                <a:cs typeface="Calibri" pitchFamily="34" charset="-120"/>
              </a:rPr>
              <a:t>5</a:t>
            </a:r>
            <a:endParaRPr lang="en-US" sz="1100" dirty="0"/>
          </a:p>
        </p:txBody>
      </p:sp>
      <p:pic>
        <p:nvPicPr>
          <p:cNvPr id="8" name="Picture 7">
            <a:extLst>
              <a:ext uri="{FF2B5EF4-FFF2-40B4-BE49-F238E27FC236}">
                <a16:creationId xmlns:a16="http://schemas.microsoft.com/office/drawing/2014/main" id="{D9D2D2EF-C86C-6526-EAAF-6DE2A2419A20}"/>
              </a:ext>
            </a:extLst>
          </p:cNvPr>
          <p:cNvPicPr>
            <a:picLocks noChangeAspect="1"/>
          </p:cNvPicPr>
          <p:nvPr/>
        </p:nvPicPr>
        <p:blipFill>
          <a:blip r:embed="rId3"/>
          <a:srcRect t="29416" r="63164" b="33159"/>
          <a:stretch>
            <a:fillRect/>
          </a:stretch>
        </p:blipFill>
        <p:spPr>
          <a:xfrm>
            <a:off x="720957" y="1224793"/>
            <a:ext cx="5201211" cy="2961314"/>
          </a:xfrm>
          <a:prstGeom prst="rect">
            <a:avLst/>
          </a:prstGeom>
        </p:spPr>
      </p:pic>
      <p:pic>
        <p:nvPicPr>
          <p:cNvPr id="10" name="Picture 9">
            <a:extLst>
              <a:ext uri="{FF2B5EF4-FFF2-40B4-BE49-F238E27FC236}">
                <a16:creationId xmlns:a16="http://schemas.microsoft.com/office/drawing/2014/main" id="{38D6395C-AB00-76D2-B2EC-EBE80DA316CE}"/>
              </a:ext>
            </a:extLst>
          </p:cNvPr>
          <p:cNvPicPr>
            <a:picLocks noChangeAspect="1"/>
          </p:cNvPicPr>
          <p:nvPr/>
        </p:nvPicPr>
        <p:blipFill>
          <a:blip r:embed="rId3"/>
          <a:srcRect l="37053" t="29496" r="31039" b="33627"/>
          <a:stretch>
            <a:fillRect/>
          </a:stretch>
        </p:blipFill>
        <p:spPr>
          <a:xfrm>
            <a:off x="6946084" y="1172775"/>
            <a:ext cx="4666795" cy="3022596"/>
          </a:xfrm>
          <a:prstGeom prst="rect">
            <a:avLst/>
          </a:prstGeom>
        </p:spPr>
      </p:pic>
      <p:sp>
        <p:nvSpPr>
          <p:cNvPr id="14" name="Rectangle 3">
            <a:extLst>
              <a:ext uri="{FF2B5EF4-FFF2-40B4-BE49-F238E27FC236}">
                <a16:creationId xmlns:a16="http://schemas.microsoft.com/office/drawing/2014/main" id="{B7B376C2-9746-2079-802B-C8DA7A4BEAE2}"/>
              </a:ext>
            </a:extLst>
          </p:cNvPr>
          <p:cNvSpPr>
            <a:spLocks noChangeArrowheads="1"/>
          </p:cNvSpPr>
          <p:nvPr/>
        </p:nvSpPr>
        <p:spPr bwMode="auto">
          <a:xfrm>
            <a:off x="689049" y="4469416"/>
            <a:ext cx="10810853"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IN" sz="1600" b="1" dirty="0"/>
              <a:t>Customers holding 3–4 products experience significantly higher churn rates than customers with fewer products, indicating potential dissatisfaction with bundled offerings.</a:t>
            </a:r>
            <a:r>
              <a:rPr lang="en-IN" sz="1600" dirty="0"/>
              <a:t> </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b="1" dirty="0"/>
              <a:t>The bank should evaluate its cross-selling strategy and address customer pain points to improve retention among multi-product customers.</a:t>
            </a:r>
            <a:r>
              <a:rPr lang="en-IN" sz="1600" dirty="0"/>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AF9"/>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822960"/>
          </a:xfrm>
          <a:prstGeom prst="rect">
            <a:avLst/>
          </a:prstGeom>
          <a:noFill/>
          <a:ln/>
        </p:spPr>
        <p:txBody>
          <a:bodyPr wrap="square" lIns="0" tIns="0" rIns="0" bIns="0" rtlCol="0" anchor="ctr"/>
          <a:lstStyle/>
          <a:p>
            <a:pPr marL="0" indent="0">
              <a:buNone/>
            </a:pPr>
            <a:r>
              <a:rPr lang="en-US" sz="3200" b="1" dirty="0">
                <a:solidFill>
                  <a:srgbClr val="021A2E"/>
                </a:solidFill>
                <a:latin typeface="Calibri" pitchFamily="34" charset="0"/>
                <a:ea typeface="Calibri" pitchFamily="34" charset="-122"/>
                <a:cs typeface="Calibri" pitchFamily="34" charset="-120"/>
              </a:rPr>
              <a:t>Age, Balance &amp; Credit Score Patterns</a:t>
            </a:r>
            <a:endParaRPr lang="en-US" sz="3200" dirty="0"/>
          </a:p>
        </p:txBody>
      </p:sp>
      <p:sp>
        <p:nvSpPr>
          <p:cNvPr id="3" name="Shape 1"/>
          <p:cNvSpPr/>
          <p:nvPr/>
        </p:nvSpPr>
        <p:spPr>
          <a:xfrm>
            <a:off x="548640" y="1280160"/>
            <a:ext cx="3474720" cy="3392508"/>
          </a:xfrm>
          <a:prstGeom prst="roundRect">
            <a:avLst>
              <a:gd name="adj" fmla="val 2051"/>
            </a:avLst>
          </a:prstGeom>
          <a:solidFill>
            <a:srgbClr val="FFFFFF"/>
          </a:solidFill>
          <a:ln/>
          <a:effectLst>
            <a:outerShdw blurRad="76200" dist="25400" dir="5400000" algn="bl" rotWithShape="0">
              <a:srgbClr val="000000">
                <a:alpha val="10000"/>
              </a:srgbClr>
            </a:outerShdw>
          </a:effectLst>
        </p:spPr>
      </p:sp>
      <p:sp>
        <p:nvSpPr>
          <p:cNvPr id="4" name="Text 2"/>
          <p:cNvSpPr/>
          <p:nvPr/>
        </p:nvSpPr>
        <p:spPr>
          <a:xfrm>
            <a:off x="822960" y="1463040"/>
            <a:ext cx="3017520" cy="457200"/>
          </a:xfrm>
          <a:prstGeom prst="rect">
            <a:avLst/>
          </a:prstGeom>
          <a:noFill/>
          <a:ln/>
        </p:spPr>
        <p:txBody>
          <a:bodyPr wrap="square" rtlCol="0" anchor="ctr"/>
          <a:lstStyle/>
          <a:p>
            <a:pPr marL="0" indent="0">
              <a:buNone/>
            </a:pPr>
            <a:r>
              <a:rPr lang="en-US" sz="1800" b="1" dirty="0">
                <a:solidFill>
                  <a:srgbClr val="021A2E"/>
                </a:solidFill>
                <a:latin typeface="Calibri" pitchFamily="34" charset="0"/>
                <a:ea typeface="Calibri" pitchFamily="34" charset="-122"/>
                <a:cs typeface="Calibri" pitchFamily="34" charset="-120"/>
              </a:rPr>
              <a:t>Age Groups</a:t>
            </a:r>
            <a:endParaRPr lang="en-US" sz="1800" dirty="0"/>
          </a:p>
        </p:txBody>
      </p:sp>
      <p:sp>
        <p:nvSpPr>
          <p:cNvPr id="5" name="Text 3"/>
          <p:cNvSpPr/>
          <p:nvPr/>
        </p:nvSpPr>
        <p:spPr>
          <a:xfrm>
            <a:off x="822960" y="2011680"/>
            <a:ext cx="3017520" cy="2224760"/>
          </a:xfrm>
          <a:prstGeom prst="rect">
            <a:avLst/>
          </a:prstGeom>
          <a:noFill/>
          <a:ln/>
        </p:spPr>
        <p:txBody>
          <a:bodyPr wrap="square" rtlCol="0" anchor="ctr"/>
          <a:lstStyle/>
          <a:p>
            <a:pPr marL="342900" indent="-342900">
              <a:buSzPct val="100000"/>
              <a:buChar char="•"/>
            </a:pPr>
            <a:r>
              <a:rPr lang="en-US" sz="1300" dirty="0">
                <a:solidFill>
                  <a:srgbClr val="1B3A4B"/>
                </a:solidFill>
                <a:latin typeface="Calibri" pitchFamily="34" charset="0"/>
                <a:ea typeface="Calibri" pitchFamily="34" charset="-122"/>
                <a:cs typeface="Calibri" pitchFamily="34" charset="-120"/>
              </a:rPr>
              <a:t>Senior customers (50+) churn at the highest rate</a:t>
            </a:r>
            <a:endParaRPr lang="en-US" sz="1300" dirty="0"/>
          </a:p>
          <a:p>
            <a:pPr marL="342900" indent="-342900">
              <a:buSzPct val="100000"/>
              <a:buChar char="•"/>
            </a:pPr>
            <a:r>
              <a:rPr lang="en-US" sz="1300" dirty="0">
                <a:solidFill>
                  <a:srgbClr val="1B3A4B"/>
                </a:solidFill>
                <a:latin typeface="Calibri" pitchFamily="34" charset="0"/>
                <a:ea typeface="Calibri" pitchFamily="34" charset="-122"/>
                <a:cs typeface="Calibri" pitchFamily="34" charset="-120"/>
              </a:rPr>
              <a:t>Adult customers (30-50) show moderate churn</a:t>
            </a:r>
            <a:endParaRPr lang="en-US" sz="1300" dirty="0"/>
          </a:p>
          <a:p>
            <a:pPr marL="342900" indent="-342900">
              <a:buSzPct val="100000"/>
              <a:buChar char="•"/>
            </a:pPr>
            <a:r>
              <a:rPr lang="en-US" sz="1300" dirty="0">
                <a:solidFill>
                  <a:srgbClr val="1B3A4B"/>
                </a:solidFill>
                <a:latin typeface="Calibri" pitchFamily="34" charset="0"/>
                <a:ea typeface="Calibri" pitchFamily="34" charset="-122"/>
                <a:cs typeface="Calibri" pitchFamily="34" charset="-120"/>
              </a:rPr>
              <a:t>Young customers (&lt;30) churn least</a:t>
            </a:r>
            <a:endParaRPr lang="en-US" sz="1300" dirty="0"/>
          </a:p>
        </p:txBody>
      </p:sp>
      <p:sp>
        <p:nvSpPr>
          <p:cNvPr id="6" name="Shape 4"/>
          <p:cNvSpPr/>
          <p:nvPr/>
        </p:nvSpPr>
        <p:spPr>
          <a:xfrm>
            <a:off x="4297680" y="1280160"/>
            <a:ext cx="3291840" cy="3392508"/>
          </a:xfrm>
          <a:prstGeom prst="roundRect">
            <a:avLst>
              <a:gd name="adj" fmla="val 2051"/>
            </a:avLst>
          </a:prstGeom>
          <a:solidFill>
            <a:srgbClr val="FFFFFF"/>
          </a:solidFill>
          <a:ln/>
          <a:effectLst>
            <a:outerShdw blurRad="76200" dist="25400" dir="5400000" algn="bl" rotWithShape="0">
              <a:srgbClr val="000000">
                <a:alpha val="10000"/>
              </a:srgbClr>
            </a:outerShdw>
          </a:effectLst>
        </p:spPr>
      </p:sp>
      <p:sp>
        <p:nvSpPr>
          <p:cNvPr id="7" name="Text 5"/>
          <p:cNvSpPr/>
          <p:nvPr/>
        </p:nvSpPr>
        <p:spPr>
          <a:xfrm>
            <a:off x="4572000" y="1463040"/>
            <a:ext cx="3017520" cy="457200"/>
          </a:xfrm>
          <a:prstGeom prst="rect">
            <a:avLst/>
          </a:prstGeom>
          <a:noFill/>
          <a:ln/>
        </p:spPr>
        <p:txBody>
          <a:bodyPr wrap="square" rtlCol="0" anchor="ctr"/>
          <a:lstStyle/>
          <a:p>
            <a:pPr marL="0" indent="0">
              <a:buNone/>
            </a:pPr>
            <a:r>
              <a:rPr lang="en-US" sz="1800" b="1" dirty="0">
                <a:solidFill>
                  <a:srgbClr val="021A2E"/>
                </a:solidFill>
                <a:latin typeface="Calibri" pitchFamily="34" charset="0"/>
                <a:ea typeface="Calibri" pitchFamily="34" charset="-122"/>
                <a:cs typeface="Calibri" pitchFamily="34" charset="-120"/>
              </a:rPr>
              <a:t>Balance Segments</a:t>
            </a:r>
            <a:endParaRPr lang="en-US" sz="1800" dirty="0"/>
          </a:p>
        </p:txBody>
      </p:sp>
      <p:sp>
        <p:nvSpPr>
          <p:cNvPr id="8" name="Text 6"/>
          <p:cNvSpPr/>
          <p:nvPr/>
        </p:nvSpPr>
        <p:spPr>
          <a:xfrm>
            <a:off x="4572000" y="2011680"/>
            <a:ext cx="2751589" cy="2224760"/>
          </a:xfrm>
          <a:prstGeom prst="rect">
            <a:avLst/>
          </a:prstGeom>
          <a:noFill/>
          <a:ln/>
        </p:spPr>
        <p:txBody>
          <a:bodyPr wrap="square" rtlCol="0" anchor="ctr"/>
          <a:lstStyle/>
          <a:p>
            <a:pPr marL="342900" indent="-342900">
              <a:buSzPct val="100000"/>
              <a:buChar char="•"/>
            </a:pPr>
            <a:r>
              <a:rPr lang="en-US" sz="1300" dirty="0">
                <a:solidFill>
                  <a:srgbClr val="1B3A4B"/>
                </a:solidFill>
                <a:latin typeface="Calibri" pitchFamily="34" charset="0"/>
                <a:ea typeface="Calibri" pitchFamily="34" charset="-122"/>
                <a:cs typeface="Calibri" pitchFamily="34" charset="-120"/>
              </a:rPr>
              <a:t>High balance (&gt;100K) customers churn more</a:t>
            </a:r>
            <a:endParaRPr lang="en-US" sz="1300" dirty="0"/>
          </a:p>
          <a:p>
            <a:pPr marL="342900" indent="-342900">
              <a:buSzPct val="100000"/>
              <a:buChar char="•"/>
            </a:pPr>
            <a:r>
              <a:rPr lang="en-US" sz="1300" dirty="0">
                <a:solidFill>
                  <a:srgbClr val="1B3A4B"/>
                </a:solidFill>
                <a:latin typeface="Calibri" pitchFamily="34" charset="0"/>
                <a:ea typeface="Calibri" pitchFamily="34" charset="-122"/>
                <a:cs typeface="Calibri" pitchFamily="34" charset="-120"/>
              </a:rPr>
              <a:t>Medium balance (50K-100K) churn moderately</a:t>
            </a:r>
            <a:endParaRPr lang="en-US" sz="1300" dirty="0"/>
          </a:p>
          <a:p>
            <a:pPr marL="342900" indent="-342900">
              <a:buSzPct val="100000"/>
              <a:buChar char="•"/>
            </a:pPr>
            <a:r>
              <a:rPr lang="en-US" sz="1300" dirty="0">
                <a:solidFill>
                  <a:srgbClr val="1B3A4B"/>
                </a:solidFill>
                <a:latin typeface="Calibri" pitchFamily="34" charset="0"/>
                <a:ea typeface="Calibri" pitchFamily="34" charset="-122"/>
                <a:cs typeface="Calibri" pitchFamily="34" charset="-120"/>
              </a:rPr>
              <a:t>1,683 customers with zero balance still churned</a:t>
            </a:r>
            <a:endParaRPr lang="en-US" sz="1300" dirty="0"/>
          </a:p>
        </p:txBody>
      </p:sp>
      <p:sp>
        <p:nvSpPr>
          <p:cNvPr id="9" name="Shape 7"/>
          <p:cNvSpPr/>
          <p:nvPr/>
        </p:nvSpPr>
        <p:spPr>
          <a:xfrm>
            <a:off x="8046720" y="1280160"/>
            <a:ext cx="3502152" cy="3392508"/>
          </a:xfrm>
          <a:prstGeom prst="roundRect">
            <a:avLst>
              <a:gd name="adj" fmla="val 2051"/>
            </a:avLst>
          </a:prstGeom>
          <a:solidFill>
            <a:srgbClr val="FFFFFF"/>
          </a:solidFill>
          <a:ln/>
          <a:effectLst>
            <a:outerShdw blurRad="76200" dist="25400" dir="5400000" algn="bl" rotWithShape="0">
              <a:srgbClr val="000000">
                <a:alpha val="10000"/>
              </a:srgbClr>
            </a:outerShdw>
          </a:effectLst>
        </p:spPr>
      </p:sp>
      <p:sp>
        <p:nvSpPr>
          <p:cNvPr id="10" name="Text 8"/>
          <p:cNvSpPr/>
          <p:nvPr/>
        </p:nvSpPr>
        <p:spPr>
          <a:xfrm>
            <a:off x="8321040" y="1463040"/>
            <a:ext cx="3017520" cy="457200"/>
          </a:xfrm>
          <a:prstGeom prst="rect">
            <a:avLst/>
          </a:prstGeom>
          <a:noFill/>
          <a:ln/>
        </p:spPr>
        <p:txBody>
          <a:bodyPr wrap="square" rtlCol="0" anchor="ctr"/>
          <a:lstStyle/>
          <a:p>
            <a:pPr marL="0" indent="0">
              <a:buNone/>
            </a:pPr>
            <a:r>
              <a:rPr lang="en-US" sz="1800" b="1" dirty="0">
                <a:solidFill>
                  <a:srgbClr val="021A2E"/>
                </a:solidFill>
                <a:latin typeface="Calibri" pitchFamily="34" charset="0"/>
                <a:ea typeface="Calibri" pitchFamily="34" charset="-122"/>
                <a:cs typeface="Calibri" pitchFamily="34" charset="-120"/>
              </a:rPr>
              <a:t>Credit Score &amp; Cards</a:t>
            </a:r>
            <a:endParaRPr lang="en-US" sz="1800" dirty="0"/>
          </a:p>
        </p:txBody>
      </p:sp>
      <p:sp>
        <p:nvSpPr>
          <p:cNvPr id="11" name="Text 9"/>
          <p:cNvSpPr/>
          <p:nvPr/>
        </p:nvSpPr>
        <p:spPr>
          <a:xfrm>
            <a:off x="8321040" y="2011680"/>
            <a:ext cx="2735650" cy="1897590"/>
          </a:xfrm>
          <a:prstGeom prst="rect">
            <a:avLst/>
          </a:prstGeom>
          <a:noFill/>
          <a:ln/>
        </p:spPr>
        <p:txBody>
          <a:bodyPr wrap="square" rtlCol="0" anchor="ctr"/>
          <a:lstStyle/>
          <a:p>
            <a:pPr marL="342900" indent="-342900">
              <a:buSzPct val="100000"/>
              <a:buChar char="•"/>
            </a:pPr>
            <a:r>
              <a:rPr lang="en-US" sz="1300" dirty="0">
                <a:solidFill>
                  <a:srgbClr val="1B3A4B"/>
                </a:solidFill>
                <a:latin typeface="Calibri" pitchFamily="34" charset="0"/>
                <a:ea typeface="Calibri" pitchFamily="34" charset="-122"/>
                <a:cs typeface="Calibri" pitchFamily="34" charset="-120"/>
              </a:rPr>
              <a:t>Churned customers have slightly lower average credit scores</a:t>
            </a:r>
            <a:endParaRPr lang="en-US" sz="1300" dirty="0"/>
          </a:p>
          <a:p>
            <a:pPr marL="342900" indent="-342900">
              <a:buSzPct val="100000"/>
              <a:buChar char="•"/>
            </a:pPr>
            <a:r>
              <a:rPr lang="en-US" sz="1300" dirty="0">
                <a:solidFill>
                  <a:srgbClr val="1B3A4B"/>
                </a:solidFill>
                <a:latin typeface="Calibri" pitchFamily="34" charset="0"/>
                <a:ea typeface="Calibri" pitchFamily="34" charset="-122"/>
                <a:cs typeface="Calibri" pitchFamily="34" charset="-120"/>
              </a:rPr>
              <a:t>Owning a credit card has minimal effect on churn rate</a:t>
            </a:r>
            <a:endParaRPr lang="en-US" sz="1300" dirty="0"/>
          </a:p>
          <a:p>
            <a:pPr marL="342900" indent="-342900">
              <a:buSzPct val="100000"/>
              <a:buChar char="•"/>
            </a:pPr>
            <a:r>
              <a:rPr lang="en-US" sz="1300" dirty="0">
                <a:solidFill>
                  <a:srgbClr val="1B3A4B"/>
                </a:solidFill>
                <a:latin typeface="Calibri" pitchFamily="34" charset="0"/>
                <a:ea typeface="Calibri" pitchFamily="34" charset="-122"/>
                <a:cs typeface="Calibri" pitchFamily="34" charset="-120"/>
              </a:rPr>
              <a:t>Credit score alone is a weak churn predictor</a:t>
            </a:r>
            <a:endParaRPr lang="en-US" sz="1300" dirty="0"/>
          </a:p>
        </p:txBody>
      </p:sp>
      <p:sp>
        <p:nvSpPr>
          <p:cNvPr id="12" name="Text 10"/>
          <p:cNvSpPr/>
          <p:nvPr/>
        </p:nvSpPr>
        <p:spPr>
          <a:xfrm>
            <a:off x="11548872" y="6355080"/>
            <a:ext cx="457200" cy="320040"/>
          </a:xfrm>
          <a:prstGeom prst="rect">
            <a:avLst/>
          </a:prstGeom>
          <a:noFill/>
          <a:ln/>
        </p:spPr>
        <p:txBody>
          <a:bodyPr wrap="square" rtlCol="0" anchor="ctr"/>
          <a:lstStyle/>
          <a:p>
            <a:pPr marL="0" indent="0" algn="r">
              <a:buNone/>
            </a:pPr>
            <a:r>
              <a:rPr lang="en-US" sz="1100" dirty="0">
                <a:solidFill>
                  <a:srgbClr val="5A6E72"/>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1A2E"/>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SQL-Driven Analysis</a:t>
            </a:r>
            <a:endParaRPr lang="en-US" sz="3200" dirty="0"/>
          </a:p>
        </p:txBody>
      </p:sp>
      <p:sp>
        <p:nvSpPr>
          <p:cNvPr id="3" name="Text 1"/>
          <p:cNvSpPr/>
          <p:nvPr/>
        </p:nvSpPr>
        <p:spPr>
          <a:xfrm>
            <a:off x="548640" y="1143000"/>
            <a:ext cx="11064240" cy="640080"/>
          </a:xfrm>
          <a:prstGeom prst="rect">
            <a:avLst/>
          </a:prstGeom>
          <a:noFill/>
          <a:ln/>
        </p:spPr>
        <p:txBody>
          <a:bodyPr wrap="square" rtlCol="0" anchor="ctr"/>
          <a:lstStyle/>
          <a:p>
            <a:pPr marL="0" indent="0">
              <a:buNone/>
            </a:pPr>
            <a:r>
              <a:rPr lang="en-US" sz="1500" dirty="0">
                <a:solidFill>
                  <a:srgbClr val="CFEDE8"/>
                </a:solidFill>
                <a:latin typeface="Calibri" pitchFamily="34" charset="0"/>
                <a:ea typeface="Calibri" pitchFamily="34" charset="-122"/>
                <a:cs typeface="Calibri" pitchFamily="34" charset="-120"/>
              </a:rPr>
              <a:t>16 SQL queries against PostgreSQL power every metric in this project — from simple counts to segmented churn-rate comparisons.</a:t>
            </a:r>
            <a:endParaRPr lang="en-US" sz="1500" dirty="0"/>
          </a:p>
        </p:txBody>
      </p:sp>
      <p:sp>
        <p:nvSpPr>
          <p:cNvPr id="4" name="Shape 2"/>
          <p:cNvSpPr/>
          <p:nvPr/>
        </p:nvSpPr>
        <p:spPr>
          <a:xfrm>
            <a:off x="548640" y="2011680"/>
            <a:ext cx="2029968" cy="2300260"/>
          </a:xfrm>
          <a:prstGeom prst="roundRect">
            <a:avLst>
              <a:gd name="adj" fmla="val 3419"/>
            </a:avLst>
          </a:prstGeom>
          <a:solidFill>
            <a:srgbClr val="1B3A4B">
              <a:alpha val="70000"/>
            </a:srgbClr>
          </a:solidFill>
          <a:ln/>
        </p:spPr>
      </p:sp>
      <p:sp>
        <p:nvSpPr>
          <p:cNvPr id="5" name="Text 3"/>
          <p:cNvSpPr/>
          <p:nvPr/>
        </p:nvSpPr>
        <p:spPr>
          <a:xfrm>
            <a:off x="713232" y="2194560"/>
            <a:ext cx="1865376" cy="457200"/>
          </a:xfrm>
          <a:prstGeom prst="rect">
            <a:avLst/>
          </a:prstGeom>
          <a:noFill/>
          <a:ln/>
        </p:spPr>
        <p:txBody>
          <a:bodyPr wrap="square" rtlCol="0" anchor="ctr"/>
          <a:lstStyle/>
          <a:p>
            <a:pPr marL="0" indent="0">
              <a:buNone/>
            </a:pPr>
            <a:r>
              <a:rPr lang="en-US" sz="1500" b="1" dirty="0">
                <a:solidFill>
                  <a:srgbClr val="02C39A"/>
                </a:solidFill>
                <a:latin typeface="Calibri" pitchFamily="34" charset="0"/>
                <a:ea typeface="Calibri" pitchFamily="34" charset="-122"/>
                <a:cs typeface="Calibri" pitchFamily="34" charset="-120"/>
              </a:rPr>
              <a:t>Overview</a:t>
            </a:r>
            <a:endParaRPr lang="en-US" sz="1500" dirty="0"/>
          </a:p>
        </p:txBody>
      </p:sp>
      <p:sp>
        <p:nvSpPr>
          <p:cNvPr id="6" name="Text 4"/>
          <p:cNvSpPr/>
          <p:nvPr/>
        </p:nvSpPr>
        <p:spPr>
          <a:xfrm>
            <a:off x="713232" y="2697480"/>
            <a:ext cx="1778298" cy="1337625"/>
          </a:xfrm>
          <a:prstGeom prst="rect">
            <a:avLst/>
          </a:prstGeom>
          <a:noFill/>
          <a:ln/>
        </p:spPr>
        <p:txBody>
          <a:bodyPr wrap="square" rtlCol="0" anchor="ctr"/>
          <a:lstStyle/>
          <a:p>
            <a:pPr marL="342900" indent="-342900">
              <a:buSzPct val="100000"/>
              <a:buChar char="•"/>
            </a:pPr>
            <a:r>
              <a:rPr lang="en-US" sz="1150" dirty="0">
                <a:solidFill>
                  <a:srgbClr val="E8F6F3"/>
                </a:solidFill>
                <a:latin typeface="Calibri" pitchFamily="34" charset="0"/>
                <a:ea typeface="Calibri" pitchFamily="34" charset="-122"/>
                <a:cs typeface="Calibri" pitchFamily="34" charset="-120"/>
              </a:rPr>
              <a:t>Total &amp; churned customers</a:t>
            </a:r>
            <a:endParaRPr lang="en-US" sz="1150" dirty="0"/>
          </a:p>
          <a:p>
            <a:pPr marL="342900" indent="-342900">
              <a:buSzPct val="100000"/>
              <a:buChar char="•"/>
            </a:pPr>
            <a:r>
              <a:rPr lang="en-US" sz="1150" dirty="0">
                <a:solidFill>
                  <a:srgbClr val="E8F6F3"/>
                </a:solidFill>
                <a:latin typeface="Calibri" pitchFamily="34" charset="0"/>
                <a:ea typeface="Calibri" pitchFamily="34" charset="-122"/>
                <a:cs typeface="Calibri" pitchFamily="34" charset="-120"/>
              </a:rPr>
              <a:t>Overall churn rate</a:t>
            </a:r>
            <a:endParaRPr lang="en-US" sz="1150" dirty="0"/>
          </a:p>
        </p:txBody>
      </p:sp>
      <p:sp>
        <p:nvSpPr>
          <p:cNvPr id="7" name="Shape 5"/>
          <p:cNvSpPr/>
          <p:nvPr/>
        </p:nvSpPr>
        <p:spPr>
          <a:xfrm>
            <a:off x="2852928" y="2011680"/>
            <a:ext cx="2063300" cy="2300260"/>
          </a:xfrm>
          <a:prstGeom prst="roundRect">
            <a:avLst>
              <a:gd name="adj" fmla="val 3419"/>
            </a:avLst>
          </a:prstGeom>
          <a:solidFill>
            <a:srgbClr val="1B3A4B">
              <a:alpha val="70000"/>
            </a:srgbClr>
          </a:solidFill>
          <a:ln/>
        </p:spPr>
      </p:sp>
      <p:sp>
        <p:nvSpPr>
          <p:cNvPr id="8" name="Text 6"/>
          <p:cNvSpPr/>
          <p:nvPr/>
        </p:nvSpPr>
        <p:spPr>
          <a:xfrm>
            <a:off x="3017520" y="2194560"/>
            <a:ext cx="1865376" cy="457200"/>
          </a:xfrm>
          <a:prstGeom prst="rect">
            <a:avLst/>
          </a:prstGeom>
          <a:noFill/>
          <a:ln/>
        </p:spPr>
        <p:txBody>
          <a:bodyPr wrap="square" rtlCol="0" anchor="ctr"/>
          <a:lstStyle/>
          <a:p>
            <a:pPr marL="0" indent="0">
              <a:buNone/>
            </a:pPr>
            <a:r>
              <a:rPr lang="en-US" sz="1500" b="1" dirty="0">
                <a:solidFill>
                  <a:srgbClr val="02C39A"/>
                </a:solidFill>
                <a:latin typeface="Calibri" pitchFamily="34" charset="0"/>
                <a:ea typeface="Calibri" pitchFamily="34" charset="-122"/>
                <a:cs typeface="Calibri" pitchFamily="34" charset="-120"/>
              </a:rPr>
              <a:t>Demographics</a:t>
            </a:r>
            <a:endParaRPr lang="en-US" sz="1500" dirty="0"/>
          </a:p>
        </p:txBody>
      </p:sp>
      <p:sp>
        <p:nvSpPr>
          <p:cNvPr id="9" name="Text 7"/>
          <p:cNvSpPr/>
          <p:nvPr/>
        </p:nvSpPr>
        <p:spPr>
          <a:xfrm>
            <a:off x="3017520" y="2697480"/>
            <a:ext cx="1865376" cy="1396348"/>
          </a:xfrm>
          <a:prstGeom prst="rect">
            <a:avLst/>
          </a:prstGeom>
          <a:noFill/>
          <a:ln/>
        </p:spPr>
        <p:txBody>
          <a:bodyPr wrap="square" rtlCol="0" anchor="ctr"/>
          <a:lstStyle/>
          <a:p>
            <a:pPr marL="342900" indent="-342900">
              <a:buSzPct val="100000"/>
              <a:buChar char="•"/>
            </a:pPr>
            <a:r>
              <a:rPr lang="en-US" sz="1150" dirty="0">
                <a:solidFill>
                  <a:srgbClr val="E8F6F3"/>
                </a:solidFill>
                <a:latin typeface="Calibri" pitchFamily="34" charset="0"/>
                <a:ea typeface="Calibri" pitchFamily="34" charset="-122"/>
                <a:cs typeface="Calibri" pitchFamily="34" charset="-120"/>
              </a:rPr>
              <a:t>Churn by geography</a:t>
            </a:r>
            <a:endParaRPr lang="en-US" sz="1150" dirty="0"/>
          </a:p>
          <a:p>
            <a:pPr marL="342900" indent="-342900">
              <a:buSzPct val="100000"/>
              <a:buChar char="•"/>
            </a:pPr>
            <a:r>
              <a:rPr lang="en-US" sz="1150" dirty="0">
                <a:solidFill>
                  <a:srgbClr val="E8F6F3"/>
                </a:solidFill>
                <a:latin typeface="Calibri" pitchFamily="34" charset="0"/>
                <a:ea typeface="Calibri" pitchFamily="34" charset="-122"/>
                <a:cs typeface="Calibri" pitchFamily="34" charset="-120"/>
              </a:rPr>
              <a:t>Churn by gender</a:t>
            </a:r>
            <a:endParaRPr lang="en-US" sz="1150" dirty="0"/>
          </a:p>
          <a:p>
            <a:pPr marL="342900" indent="-342900">
              <a:buSzPct val="100000"/>
              <a:buChar char="•"/>
            </a:pPr>
            <a:r>
              <a:rPr lang="en-US" sz="1150" dirty="0">
                <a:solidFill>
                  <a:srgbClr val="E8F6F3"/>
                </a:solidFill>
                <a:latin typeface="Calibri" pitchFamily="34" charset="0"/>
                <a:ea typeface="Calibri" pitchFamily="34" charset="-122"/>
                <a:cs typeface="Calibri" pitchFamily="34" charset="-120"/>
              </a:rPr>
              <a:t>Age-wise &amp; age-group churn</a:t>
            </a:r>
            <a:endParaRPr lang="en-US" sz="1150" dirty="0"/>
          </a:p>
        </p:txBody>
      </p:sp>
      <p:sp>
        <p:nvSpPr>
          <p:cNvPr id="10" name="Shape 8"/>
          <p:cNvSpPr/>
          <p:nvPr/>
        </p:nvSpPr>
        <p:spPr>
          <a:xfrm>
            <a:off x="5157216" y="2011679"/>
            <a:ext cx="1953964" cy="2300261"/>
          </a:xfrm>
          <a:prstGeom prst="roundRect">
            <a:avLst>
              <a:gd name="adj" fmla="val 3419"/>
            </a:avLst>
          </a:prstGeom>
          <a:solidFill>
            <a:srgbClr val="1B3A4B">
              <a:alpha val="70000"/>
            </a:srgbClr>
          </a:solidFill>
          <a:ln/>
        </p:spPr>
      </p:sp>
      <p:sp>
        <p:nvSpPr>
          <p:cNvPr id="11" name="Text 9"/>
          <p:cNvSpPr/>
          <p:nvPr/>
        </p:nvSpPr>
        <p:spPr>
          <a:xfrm>
            <a:off x="5321808" y="2194560"/>
            <a:ext cx="1865376" cy="457200"/>
          </a:xfrm>
          <a:prstGeom prst="rect">
            <a:avLst/>
          </a:prstGeom>
          <a:noFill/>
          <a:ln/>
        </p:spPr>
        <p:txBody>
          <a:bodyPr wrap="square" rtlCol="0" anchor="ctr"/>
          <a:lstStyle/>
          <a:p>
            <a:pPr marL="0" indent="0">
              <a:buNone/>
            </a:pPr>
            <a:r>
              <a:rPr lang="en-US" sz="1500" b="1" dirty="0">
                <a:solidFill>
                  <a:srgbClr val="02C39A"/>
                </a:solidFill>
                <a:latin typeface="Calibri" pitchFamily="34" charset="0"/>
                <a:ea typeface="Calibri" pitchFamily="34" charset="-122"/>
                <a:cs typeface="Calibri" pitchFamily="34" charset="-120"/>
              </a:rPr>
              <a:t>Engagement</a:t>
            </a:r>
            <a:endParaRPr lang="en-US" sz="1500" dirty="0"/>
          </a:p>
        </p:txBody>
      </p:sp>
      <p:sp>
        <p:nvSpPr>
          <p:cNvPr id="12" name="Text 10"/>
          <p:cNvSpPr/>
          <p:nvPr/>
        </p:nvSpPr>
        <p:spPr>
          <a:xfrm>
            <a:off x="5321808" y="2697480"/>
            <a:ext cx="1641054" cy="1396348"/>
          </a:xfrm>
          <a:prstGeom prst="rect">
            <a:avLst/>
          </a:prstGeom>
          <a:noFill/>
          <a:ln/>
        </p:spPr>
        <p:txBody>
          <a:bodyPr wrap="square" rtlCol="0" anchor="ctr"/>
          <a:lstStyle/>
          <a:p>
            <a:pPr marL="342900" indent="-342900">
              <a:buSzPct val="100000"/>
              <a:buChar char="•"/>
            </a:pPr>
            <a:r>
              <a:rPr lang="en-US" sz="1150" dirty="0">
                <a:solidFill>
                  <a:srgbClr val="E8F6F3"/>
                </a:solidFill>
                <a:latin typeface="Calibri" pitchFamily="34" charset="0"/>
                <a:ea typeface="Calibri" pitchFamily="34" charset="-122"/>
                <a:cs typeface="Calibri" pitchFamily="34" charset="-120"/>
              </a:rPr>
              <a:t>Active member vs churn</a:t>
            </a:r>
            <a:endParaRPr lang="en-US" sz="1150" dirty="0"/>
          </a:p>
          <a:p>
            <a:pPr marL="342900" indent="-342900">
              <a:buSzPct val="100000"/>
              <a:buChar char="•"/>
            </a:pPr>
            <a:r>
              <a:rPr lang="en-US" sz="1150" dirty="0">
                <a:solidFill>
                  <a:srgbClr val="E8F6F3"/>
                </a:solidFill>
                <a:latin typeface="Calibri" pitchFamily="34" charset="0"/>
                <a:ea typeface="Calibri" pitchFamily="34" charset="-122"/>
                <a:cs typeface="Calibri" pitchFamily="34" charset="-120"/>
              </a:rPr>
              <a:t>Credit card holders vs churn</a:t>
            </a:r>
            <a:endParaRPr lang="en-US" sz="1150" dirty="0"/>
          </a:p>
        </p:txBody>
      </p:sp>
      <p:sp>
        <p:nvSpPr>
          <p:cNvPr id="13" name="Shape 11"/>
          <p:cNvSpPr/>
          <p:nvPr/>
        </p:nvSpPr>
        <p:spPr>
          <a:xfrm>
            <a:off x="7461504" y="2011680"/>
            <a:ext cx="1953964" cy="2300260"/>
          </a:xfrm>
          <a:prstGeom prst="roundRect">
            <a:avLst>
              <a:gd name="adj" fmla="val 3419"/>
            </a:avLst>
          </a:prstGeom>
          <a:solidFill>
            <a:srgbClr val="1B3A4B">
              <a:alpha val="70000"/>
            </a:srgbClr>
          </a:solidFill>
          <a:ln/>
        </p:spPr>
      </p:sp>
      <p:sp>
        <p:nvSpPr>
          <p:cNvPr id="14" name="Text 12"/>
          <p:cNvSpPr/>
          <p:nvPr/>
        </p:nvSpPr>
        <p:spPr>
          <a:xfrm>
            <a:off x="7626096" y="2194560"/>
            <a:ext cx="1865376" cy="457200"/>
          </a:xfrm>
          <a:prstGeom prst="rect">
            <a:avLst/>
          </a:prstGeom>
          <a:noFill/>
          <a:ln/>
        </p:spPr>
        <p:txBody>
          <a:bodyPr wrap="square" rtlCol="0" anchor="ctr"/>
          <a:lstStyle/>
          <a:p>
            <a:pPr marL="0" indent="0">
              <a:buNone/>
            </a:pPr>
            <a:r>
              <a:rPr lang="en-US" sz="1500" b="1" dirty="0">
                <a:solidFill>
                  <a:srgbClr val="02C39A"/>
                </a:solidFill>
                <a:latin typeface="Calibri" pitchFamily="34" charset="0"/>
                <a:ea typeface="Calibri" pitchFamily="34" charset="-122"/>
                <a:cs typeface="Calibri" pitchFamily="34" charset="-120"/>
              </a:rPr>
              <a:t>Financial</a:t>
            </a:r>
            <a:endParaRPr lang="en-US" sz="1500" dirty="0"/>
          </a:p>
        </p:txBody>
      </p:sp>
      <p:sp>
        <p:nvSpPr>
          <p:cNvPr id="15" name="Text 13"/>
          <p:cNvSpPr/>
          <p:nvPr/>
        </p:nvSpPr>
        <p:spPr>
          <a:xfrm>
            <a:off x="7626096" y="2697480"/>
            <a:ext cx="1548384" cy="1195012"/>
          </a:xfrm>
          <a:prstGeom prst="rect">
            <a:avLst/>
          </a:prstGeom>
          <a:noFill/>
          <a:ln/>
        </p:spPr>
        <p:txBody>
          <a:bodyPr wrap="square" rtlCol="0" anchor="ctr"/>
          <a:lstStyle/>
          <a:p>
            <a:pPr marL="342900" indent="-342900">
              <a:buSzPct val="100000"/>
              <a:buChar char="•"/>
            </a:pPr>
            <a:r>
              <a:rPr lang="en-US" sz="1150" dirty="0">
                <a:solidFill>
                  <a:srgbClr val="E8F6F3"/>
                </a:solidFill>
                <a:latin typeface="Calibri" pitchFamily="34" charset="0"/>
                <a:ea typeface="Calibri" pitchFamily="34" charset="-122"/>
                <a:cs typeface="Calibri" pitchFamily="34" charset="-120"/>
              </a:rPr>
              <a:t>Balance segment analysis</a:t>
            </a:r>
            <a:endParaRPr lang="en-US" sz="1150" dirty="0"/>
          </a:p>
          <a:p>
            <a:pPr marL="342900" indent="-342900">
              <a:buSzPct val="100000"/>
              <a:buChar char="•"/>
            </a:pPr>
            <a:r>
              <a:rPr lang="en-US" sz="1150" dirty="0">
                <a:solidFill>
                  <a:srgbClr val="E8F6F3"/>
                </a:solidFill>
                <a:latin typeface="Calibri" pitchFamily="34" charset="0"/>
                <a:ea typeface="Calibri" pitchFamily="34" charset="-122"/>
                <a:cs typeface="Calibri" pitchFamily="34" charset="-120"/>
              </a:rPr>
              <a:t>Number of products impact</a:t>
            </a:r>
            <a:endParaRPr lang="en-US" sz="1150" dirty="0"/>
          </a:p>
          <a:p>
            <a:pPr marL="342900" indent="-342900">
              <a:buSzPct val="100000"/>
              <a:buChar char="•"/>
            </a:pPr>
            <a:r>
              <a:rPr lang="en-US" sz="1150" dirty="0">
                <a:solidFill>
                  <a:srgbClr val="E8F6F3"/>
                </a:solidFill>
                <a:latin typeface="Calibri" pitchFamily="34" charset="0"/>
                <a:ea typeface="Calibri" pitchFamily="34" charset="-122"/>
                <a:cs typeface="Calibri" pitchFamily="34" charset="-120"/>
              </a:rPr>
              <a:t>Credit score vs churn</a:t>
            </a:r>
            <a:endParaRPr lang="en-US" sz="1150" dirty="0"/>
          </a:p>
        </p:txBody>
      </p:sp>
      <p:sp>
        <p:nvSpPr>
          <p:cNvPr id="16" name="Shape 14"/>
          <p:cNvSpPr/>
          <p:nvPr/>
        </p:nvSpPr>
        <p:spPr>
          <a:xfrm>
            <a:off x="9765791" y="2011679"/>
            <a:ext cx="2029967" cy="2300261"/>
          </a:xfrm>
          <a:prstGeom prst="roundRect">
            <a:avLst>
              <a:gd name="adj" fmla="val 3419"/>
            </a:avLst>
          </a:prstGeom>
          <a:solidFill>
            <a:srgbClr val="1B3A4B">
              <a:alpha val="70000"/>
            </a:srgbClr>
          </a:solidFill>
          <a:ln/>
        </p:spPr>
      </p:sp>
      <p:sp>
        <p:nvSpPr>
          <p:cNvPr id="17" name="Text 15"/>
          <p:cNvSpPr/>
          <p:nvPr/>
        </p:nvSpPr>
        <p:spPr>
          <a:xfrm>
            <a:off x="9930384" y="2194560"/>
            <a:ext cx="1865376" cy="457200"/>
          </a:xfrm>
          <a:prstGeom prst="rect">
            <a:avLst/>
          </a:prstGeom>
          <a:noFill/>
          <a:ln/>
        </p:spPr>
        <p:txBody>
          <a:bodyPr wrap="square" rtlCol="0" anchor="ctr"/>
          <a:lstStyle/>
          <a:p>
            <a:pPr marL="0" indent="0">
              <a:buNone/>
            </a:pPr>
            <a:r>
              <a:rPr lang="en-US" sz="1500" b="1" dirty="0">
                <a:solidFill>
                  <a:srgbClr val="02C39A"/>
                </a:solidFill>
                <a:latin typeface="Calibri" pitchFamily="34" charset="0"/>
                <a:ea typeface="Calibri" pitchFamily="34" charset="-122"/>
                <a:cs typeface="Calibri" pitchFamily="34" charset="-120"/>
              </a:rPr>
              <a:t>Deep Dives</a:t>
            </a:r>
            <a:endParaRPr lang="en-US" sz="1500" dirty="0"/>
          </a:p>
        </p:txBody>
      </p:sp>
      <p:sp>
        <p:nvSpPr>
          <p:cNvPr id="18" name="Text 16"/>
          <p:cNvSpPr/>
          <p:nvPr/>
        </p:nvSpPr>
        <p:spPr>
          <a:xfrm>
            <a:off x="9930384" y="2697479"/>
            <a:ext cx="1823598" cy="1508761"/>
          </a:xfrm>
          <a:prstGeom prst="rect">
            <a:avLst/>
          </a:prstGeom>
          <a:noFill/>
          <a:ln/>
        </p:spPr>
        <p:txBody>
          <a:bodyPr wrap="square" rtlCol="0" anchor="ctr"/>
          <a:lstStyle/>
          <a:p>
            <a:pPr marL="342900" indent="-342900">
              <a:buSzPct val="100000"/>
              <a:buChar char="•"/>
            </a:pPr>
            <a:r>
              <a:rPr lang="en-US" sz="1150" dirty="0">
                <a:solidFill>
                  <a:srgbClr val="E8F6F3"/>
                </a:solidFill>
                <a:latin typeface="Calibri" pitchFamily="34" charset="0"/>
                <a:ea typeface="Calibri" pitchFamily="34" charset="-122"/>
                <a:cs typeface="Calibri" pitchFamily="34" charset="-120"/>
              </a:rPr>
              <a:t>Top 10 high-balance churners</a:t>
            </a:r>
            <a:endParaRPr lang="en-US" sz="1150" dirty="0"/>
          </a:p>
          <a:p>
            <a:pPr marL="342900" indent="-342900">
              <a:buSzPct val="100000"/>
              <a:buChar char="•"/>
            </a:pPr>
            <a:r>
              <a:rPr lang="en-US" sz="1150" dirty="0">
                <a:solidFill>
                  <a:srgbClr val="E8F6F3"/>
                </a:solidFill>
                <a:latin typeface="Calibri" pitchFamily="34" charset="0"/>
                <a:ea typeface="Calibri" pitchFamily="34" charset="-122"/>
                <a:cs typeface="Calibri" pitchFamily="34" charset="-120"/>
              </a:rPr>
              <a:t>Zero-balance churned customers</a:t>
            </a:r>
            <a:endParaRPr lang="en-US" sz="1150" dirty="0"/>
          </a:p>
          <a:p>
            <a:pPr marL="342900" indent="-342900">
              <a:buSzPct val="100000"/>
              <a:buChar char="•"/>
            </a:pPr>
            <a:r>
              <a:rPr lang="en-US" sz="1150" dirty="0">
                <a:solidFill>
                  <a:srgbClr val="E8F6F3"/>
                </a:solidFill>
                <a:latin typeface="Calibri" pitchFamily="34" charset="0"/>
                <a:ea typeface="Calibri" pitchFamily="34" charset="-122"/>
                <a:cs typeface="Calibri" pitchFamily="34" charset="-120"/>
              </a:rPr>
              <a:t>Geography + gender risk matrix</a:t>
            </a:r>
            <a:endParaRPr lang="en-US" sz="1150" dirty="0"/>
          </a:p>
          <a:p>
            <a:pPr marL="342900" indent="-342900">
              <a:buSzPct val="100000"/>
              <a:buChar char="•"/>
            </a:pPr>
            <a:r>
              <a:rPr lang="en-US" sz="1150" dirty="0">
                <a:solidFill>
                  <a:srgbClr val="E8F6F3"/>
                </a:solidFill>
                <a:latin typeface="Calibri" pitchFamily="34" charset="0"/>
                <a:ea typeface="Calibri" pitchFamily="34" charset="-122"/>
                <a:cs typeface="Calibri" pitchFamily="34" charset="-120"/>
              </a:rPr>
              <a:t>Total balance lost to churn</a:t>
            </a:r>
            <a:endParaRPr lang="en-US" sz="1150" dirty="0"/>
          </a:p>
        </p:txBody>
      </p:sp>
      <p:sp>
        <p:nvSpPr>
          <p:cNvPr id="19" name="Text 17"/>
          <p:cNvSpPr/>
          <p:nvPr/>
        </p:nvSpPr>
        <p:spPr>
          <a:xfrm>
            <a:off x="11548872" y="6355080"/>
            <a:ext cx="457200" cy="320040"/>
          </a:xfrm>
          <a:prstGeom prst="rect">
            <a:avLst/>
          </a:prstGeom>
          <a:noFill/>
          <a:ln/>
        </p:spPr>
        <p:txBody>
          <a:bodyPr wrap="square" rtlCol="0" anchor="ctr"/>
          <a:lstStyle/>
          <a:p>
            <a:pPr marL="0" indent="0" algn="r">
              <a:buNone/>
            </a:pPr>
            <a:r>
              <a:rPr lang="en-US" sz="1100" dirty="0">
                <a:solidFill>
                  <a:srgbClr val="CFEDE8"/>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822960"/>
          </a:xfrm>
          <a:prstGeom prst="rect">
            <a:avLst/>
          </a:prstGeom>
          <a:noFill/>
          <a:ln/>
        </p:spPr>
        <p:txBody>
          <a:bodyPr wrap="square" lIns="0" tIns="0" rIns="0" bIns="0" rtlCol="0" anchor="ctr"/>
          <a:lstStyle/>
          <a:p>
            <a:pPr marL="0" indent="0">
              <a:buNone/>
            </a:pPr>
            <a:r>
              <a:rPr lang="en-US" sz="3200" b="1" dirty="0">
                <a:solidFill>
                  <a:srgbClr val="021A2E"/>
                </a:solidFill>
                <a:latin typeface="Calibri" pitchFamily="34" charset="0"/>
                <a:ea typeface="Calibri" pitchFamily="34" charset="-122"/>
                <a:cs typeface="Calibri" pitchFamily="34" charset="-120"/>
              </a:rPr>
              <a:t>Power BI Dashboard</a:t>
            </a:r>
            <a:endParaRPr lang="en-US" sz="3200" dirty="0"/>
          </a:p>
        </p:txBody>
      </p:sp>
      <p:sp>
        <p:nvSpPr>
          <p:cNvPr id="3" name="Text 1"/>
          <p:cNvSpPr/>
          <p:nvPr/>
        </p:nvSpPr>
        <p:spPr>
          <a:xfrm>
            <a:off x="548640" y="1188720"/>
            <a:ext cx="5943600" cy="1463040"/>
          </a:xfrm>
          <a:prstGeom prst="rect">
            <a:avLst/>
          </a:prstGeom>
          <a:noFill/>
          <a:ln/>
        </p:spPr>
        <p:txBody>
          <a:bodyPr wrap="square" rtlCol="0" anchor="ctr"/>
          <a:lstStyle/>
          <a:p>
            <a:pPr marL="0" indent="0">
              <a:buNone/>
            </a:pPr>
            <a:r>
              <a:rPr lang="en-US" sz="1500" dirty="0">
                <a:solidFill>
                  <a:srgbClr val="1B3A4B"/>
                </a:solidFill>
                <a:latin typeface="Calibri" pitchFamily="34" charset="0"/>
                <a:ea typeface="Calibri" pitchFamily="34" charset="-122"/>
                <a:cs typeface="Calibri" pitchFamily="34" charset="-120"/>
              </a:rPr>
              <a:t>The SQL findings feed an interactive Power BI dashboard, allowing stakeholders to filter and drill into churn drivers by geography, demographics, account activity and product holdings in real time.</a:t>
            </a:r>
            <a:endParaRPr lang="en-US" sz="1500" dirty="0"/>
          </a:p>
        </p:txBody>
      </p:sp>
      <p:sp>
        <p:nvSpPr>
          <p:cNvPr id="4" name="Text 2"/>
          <p:cNvSpPr/>
          <p:nvPr/>
        </p:nvSpPr>
        <p:spPr>
          <a:xfrm>
            <a:off x="548640" y="2743200"/>
            <a:ext cx="5943600" cy="3291840"/>
          </a:xfrm>
          <a:prstGeom prst="rect">
            <a:avLst/>
          </a:prstGeom>
          <a:noFill/>
          <a:ln/>
        </p:spPr>
        <p:txBody>
          <a:bodyPr wrap="square" rtlCol="0" anchor="ctr"/>
          <a:lstStyle/>
          <a:p>
            <a:pPr marL="342900" indent="-342900">
              <a:buSzPct val="100000"/>
              <a:buChar char="•"/>
            </a:pPr>
            <a:r>
              <a:rPr lang="en-US" sz="1400" dirty="0">
                <a:solidFill>
                  <a:srgbClr val="1B3A4B"/>
                </a:solidFill>
                <a:latin typeface="Calibri" pitchFamily="34" charset="0"/>
                <a:ea typeface="Calibri" pitchFamily="34" charset="-122"/>
                <a:cs typeface="Calibri" pitchFamily="34" charset="-120"/>
              </a:rPr>
              <a:t>KPI cards: total customers, churn rate, lost balance</a:t>
            </a:r>
            <a:endParaRPr lang="en-US" sz="1400" dirty="0"/>
          </a:p>
          <a:p>
            <a:pPr marL="342900" indent="-342900">
              <a:buSzPct val="100000"/>
              <a:buChar char="•"/>
            </a:pPr>
            <a:r>
              <a:rPr lang="en-US" sz="1400" dirty="0">
                <a:solidFill>
                  <a:srgbClr val="1B3A4B"/>
                </a:solidFill>
                <a:latin typeface="Calibri" pitchFamily="34" charset="0"/>
                <a:ea typeface="Calibri" pitchFamily="34" charset="-122"/>
                <a:cs typeface="Calibri" pitchFamily="34" charset="-120"/>
              </a:rPr>
              <a:t>Geography &amp; gender churn comparison visuals</a:t>
            </a:r>
            <a:endParaRPr lang="en-US" sz="1400" dirty="0"/>
          </a:p>
          <a:p>
            <a:pPr marL="342900" indent="-342900">
              <a:buSzPct val="100000"/>
              <a:buChar char="•"/>
            </a:pPr>
            <a:r>
              <a:rPr lang="en-US" sz="1400" dirty="0">
                <a:solidFill>
                  <a:srgbClr val="1B3A4B"/>
                </a:solidFill>
                <a:latin typeface="Calibri" pitchFamily="34" charset="0"/>
                <a:ea typeface="Calibri" pitchFamily="34" charset="-122"/>
                <a:cs typeface="Calibri" pitchFamily="34" charset="-120"/>
              </a:rPr>
              <a:t>Age group and balance segment breakdowns</a:t>
            </a:r>
            <a:endParaRPr lang="en-US" sz="1400" dirty="0"/>
          </a:p>
          <a:p>
            <a:pPr marL="342900" indent="-342900">
              <a:buSzPct val="100000"/>
              <a:buChar char="•"/>
            </a:pPr>
            <a:r>
              <a:rPr lang="en-US" sz="1400" dirty="0">
                <a:solidFill>
                  <a:srgbClr val="1B3A4B"/>
                </a:solidFill>
                <a:latin typeface="Calibri" pitchFamily="34" charset="0"/>
                <a:ea typeface="Calibri" pitchFamily="34" charset="-122"/>
                <a:cs typeface="Calibri" pitchFamily="34" charset="-120"/>
              </a:rPr>
              <a:t>Activity status &amp; number-of-products impact views</a:t>
            </a:r>
            <a:endParaRPr lang="en-US" sz="1400" dirty="0"/>
          </a:p>
          <a:p>
            <a:pPr marL="342900" indent="-342900">
              <a:buSzPct val="100000"/>
              <a:buChar char="•"/>
            </a:pPr>
            <a:r>
              <a:rPr lang="en-US" sz="1400" dirty="0">
                <a:solidFill>
                  <a:srgbClr val="1B3A4B"/>
                </a:solidFill>
                <a:latin typeface="Calibri" pitchFamily="34" charset="0"/>
                <a:ea typeface="Calibri" pitchFamily="34" charset="-122"/>
                <a:cs typeface="Calibri" pitchFamily="34" charset="-120"/>
              </a:rPr>
              <a:t>Interactive filters/slicers for drill-down analysis</a:t>
            </a:r>
            <a:endParaRPr lang="en-US" sz="1400" dirty="0"/>
          </a:p>
        </p:txBody>
      </p:sp>
      <p:sp>
        <p:nvSpPr>
          <p:cNvPr id="6" name="Text 4"/>
          <p:cNvSpPr/>
          <p:nvPr/>
        </p:nvSpPr>
        <p:spPr>
          <a:xfrm>
            <a:off x="6949440" y="1371600"/>
            <a:ext cx="4480560" cy="365760"/>
          </a:xfrm>
          <a:prstGeom prst="rect">
            <a:avLst/>
          </a:prstGeom>
          <a:noFill/>
          <a:ln/>
        </p:spPr>
        <p:txBody>
          <a:bodyPr wrap="square" rtlCol="0" anchor="ctr"/>
          <a:lstStyle/>
          <a:p>
            <a:pPr marL="0" indent="0">
              <a:buNone/>
            </a:pPr>
            <a:r>
              <a:rPr lang="en-US" sz="1300" b="1" dirty="0">
                <a:solidFill>
                  <a:srgbClr val="021A2E"/>
                </a:solidFill>
                <a:latin typeface="Calibri" pitchFamily="34" charset="0"/>
                <a:ea typeface="Calibri" pitchFamily="34" charset="-122"/>
                <a:cs typeface="Calibri" pitchFamily="34" charset="-120"/>
              </a:rPr>
              <a:t>CHURN OVERVIEW</a:t>
            </a:r>
            <a:endParaRPr lang="en-US" sz="1300" dirty="0"/>
          </a:p>
        </p:txBody>
      </p:sp>
      <p:sp>
        <p:nvSpPr>
          <p:cNvPr id="7" name="Shape 5"/>
          <p:cNvSpPr/>
          <p:nvPr/>
        </p:nvSpPr>
        <p:spPr>
          <a:xfrm>
            <a:off x="6949440" y="1874520"/>
            <a:ext cx="1463040" cy="914400"/>
          </a:xfrm>
          <a:prstGeom prst="roundRect">
            <a:avLst>
              <a:gd name="adj" fmla="val 6000"/>
            </a:avLst>
          </a:prstGeom>
          <a:solidFill>
            <a:srgbClr val="FFFFFF"/>
          </a:solidFill>
          <a:ln/>
        </p:spPr>
      </p:sp>
      <p:sp>
        <p:nvSpPr>
          <p:cNvPr id="8" name="Text 6"/>
          <p:cNvSpPr/>
          <p:nvPr/>
        </p:nvSpPr>
        <p:spPr>
          <a:xfrm>
            <a:off x="6949440" y="1965960"/>
            <a:ext cx="1463040" cy="457200"/>
          </a:xfrm>
          <a:prstGeom prst="rect">
            <a:avLst/>
          </a:prstGeom>
          <a:noFill/>
          <a:ln/>
        </p:spPr>
        <p:txBody>
          <a:bodyPr wrap="square" lIns="0" tIns="0" rIns="0" bIns="0" rtlCol="0" anchor="ctr"/>
          <a:lstStyle/>
          <a:p>
            <a:pPr marL="0" indent="0" algn="ctr">
              <a:buNone/>
            </a:pPr>
            <a:r>
              <a:rPr lang="en-US" sz="1800" b="1" dirty="0">
                <a:solidFill>
                  <a:srgbClr val="028090"/>
                </a:solidFill>
                <a:latin typeface="Calibri" pitchFamily="34" charset="0"/>
                <a:ea typeface="Calibri" pitchFamily="34" charset="-122"/>
                <a:cs typeface="Calibri" pitchFamily="34" charset="-120"/>
              </a:rPr>
              <a:t>10,000</a:t>
            </a:r>
            <a:endParaRPr lang="en-US" sz="1800" dirty="0"/>
          </a:p>
        </p:txBody>
      </p:sp>
      <p:sp>
        <p:nvSpPr>
          <p:cNvPr id="9" name="Text 7"/>
          <p:cNvSpPr/>
          <p:nvPr/>
        </p:nvSpPr>
        <p:spPr>
          <a:xfrm>
            <a:off x="6949440" y="2423160"/>
            <a:ext cx="1463040" cy="320040"/>
          </a:xfrm>
          <a:prstGeom prst="rect">
            <a:avLst/>
          </a:prstGeom>
          <a:noFill/>
          <a:ln/>
        </p:spPr>
        <p:txBody>
          <a:bodyPr wrap="square" lIns="0" tIns="0" rIns="0" bIns="0" rtlCol="0" anchor="ctr"/>
          <a:lstStyle/>
          <a:p>
            <a:pPr marL="0" indent="0" algn="ctr">
              <a:buNone/>
            </a:pPr>
            <a:r>
              <a:rPr lang="en-US" sz="1000" dirty="0">
                <a:solidFill>
                  <a:srgbClr val="5A6E72"/>
                </a:solidFill>
                <a:latin typeface="Calibri" pitchFamily="34" charset="0"/>
                <a:ea typeface="Calibri" pitchFamily="34" charset="-122"/>
                <a:cs typeface="Calibri" pitchFamily="34" charset="-120"/>
              </a:rPr>
              <a:t>Customers</a:t>
            </a:r>
            <a:endParaRPr lang="en-US" sz="1000" dirty="0"/>
          </a:p>
        </p:txBody>
      </p:sp>
      <p:sp>
        <p:nvSpPr>
          <p:cNvPr id="10" name="Shape 8"/>
          <p:cNvSpPr/>
          <p:nvPr/>
        </p:nvSpPr>
        <p:spPr>
          <a:xfrm>
            <a:off x="8549640" y="1874520"/>
            <a:ext cx="1463040" cy="914400"/>
          </a:xfrm>
          <a:prstGeom prst="roundRect">
            <a:avLst>
              <a:gd name="adj" fmla="val 6000"/>
            </a:avLst>
          </a:prstGeom>
          <a:solidFill>
            <a:srgbClr val="FFFFFF"/>
          </a:solidFill>
          <a:ln/>
        </p:spPr>
      </p:sp>
      <p:sp>
        <p:nvSpPr>
          <p:cNvPr id="11" name="Text 9"/>
          <p:cNvSpPr/>
          <p:nvPr/>
        </p:nvSpPr>
        <p:spPr>
          <a:xfrm>
            <a:off x="8549640" y="1965960"/>
            <a:ext cx="1463040" cy="457200"/>
          </a:xfrm>
          <a:prstGeom prst="rect">
            <a:avLst/>
          </a:prstGeom>
          <a:noFill/>
          <a:ln/>
        </p:spPr>
        <p:txBody>
          <a:bodyPr wrap="square" lIns="0" tIns="0" rIns="0" bIns="0" rtlCol="0" anchor="ctr"/>
          <a:lstStyle/>
          <a:p>
            <a:pPr marL="0" indent="0" algn="ctr">
              <a:buNone/>
            </a:pPr>
            <a:r>
              <a:rPr lang="en-US" sz="1800" b="1" dirty="0">
                <a:solidFill>
                  <a:srgbClr val="028090"/>
                </a:solidFill>
                <a:latin typeface="Calibri" pitchFamily="34" charset="0"/>
                <a:ea typeface="Calibri" pitchFamily="34" charset="-122"/>
                <a:cs typeface="Calibri" pitchFamily="34" charset="-120"/>
              </a:rPr>
              <a:t>20.4%</a:t>
            </a:r>
            <a:endParaRPr lang="en-US" sz="1800" dirty="0"/>
          </a:p>
        </p:txBody>
      </p:sp>
      <p:sp>
        <p:nvSpPr>
          <p:cNvPr id="12" name="Text 10"/>
          <p:cNvSpPr/>
          <p:nvPr/>
        </p:nvSpPr>
        <p:spPr>
          <a:xfrm>
            <a:off x="8549640" y="2423160"/>
            <a:ext cx="1463040" cy="320040"/>
          </a:xfrm>
          <a:prstGeom prst="rect">
            <a:avLst/>
          </a:prstGeom>
          <a:noFill/>
          <a:ln/>
        </p:spPr>
        <p:txBody>
          <a:bodyPr wrap="square" lIns="0" tIns="0" rIns="0" bIns="0" rtlCol="0" anchor="ctr"/>
          <a:lstStyle/>
          <a:p>
            <a:pPr marL="0" indent="0" algn="ctr">
              <a:buNone/>
            </a:pPr>
            <a:r>
              <a:rPr lang="en-US" sz="1000" dirty="0">
                <a:solidFill>
                  <a:srgbClr val="5A6E72"/>
                </a:solidFill>
                <a:latin typeface="Calibri" pitchFamily="34" charset="0"/>
                <a:ea typeface="Calibri" pitchFamily="34" charset="-122"/>
                <a:cs typeface="Calibri" pitchFamily="34" charset="-120"/>
              </a:rPr>
              <a:t>Churn Rate</a:t>
            </a:r>
            <a:endParaRPr lang="en-US" sz="1000" dirty="0"/>
          </a:p>
        </p:txBody>
      </p:sp>
      <p:sp>
        <p:nvSpPr>
          <p:cNvPr id="13" name="Shape 11"/>
          <p:cNvSpPr/>
          <p:nvPr/>
        </p:nvSpPr>
        <p:spPr>
          <a:xfrm>
            <a:off x="10149840" y="1874520"/>
            <a:ext cx="1463040" cy="914400"/>
          </a:xfrm>
          <a:prstGeom prst="roundRect">
            <a:avLst>
              <a:gd name="adj" fmla="val 6000"/>
            </a:avLst>
          </a:prstGeom>
          <a:solidFill>
            <a:srgbClr val="FFFFFF"/>
          </a:solidFill>
          <a:ln/>
        </p:spPr>
      </p:sp>
      <p:sp>
        <p:nvSpPr>
          <p:cNvPr id="14" name="Text 12"/>
          <p:cNvSpPr/>
          <p:nvPr/>
        </p:nvSpPr>
        <p:spPr>
          <a:xfrm>
            <a:off x="10149840" y="1965960"/>
            <a:ext cx="1463040" cy="457200"/>
          </a:xfrm>
          <a:prstGeom prst="rect">
            <a:avLst/>
          </a:prstGeom>
          <a:noFill/>
          <a:ln/>
        </p:spPr>
        <p:txBody>
          <a:bodyPr wrap="square" lIns="0" tIns="0" rIns="0" bIns="0" rtlCol="0" anchor="ctr"/>
          <a:lstStyle/>
          <a:p>
            <a:pPr marL="0" indent="0" algn="ctr">
              <a:buNone/>
            </a:pPr>
            <a:r>
              <a:rPr lang="en-US" sz="1800" b="1" dirty="0">
                <a:solidFill>
                  <a:srgbClr val="028090"/>
                </a:solidFill>
                <a:latin typeface="Calibri" pitchFamily="34" charset="0"/>
                <a:ea typeface="Calibri" pitchFamily="34" charset="-122"/>
                <a:cs typeface="Calibri" pitchFamily="34" charset="-120"/>
              </a:rPr>
              <a:t>32.4%</a:t>
            </a:r>
            <a:endParaRPr lang="en-US" sz="1800" dirty="0"/>
          </a:p>
        </p:txBody>
      </p:sp>
      <p:sp>
        <p:nvSpPr>
          <p:cNvPr id="15" name="Text 13"/>
          <p:cNvSpPr/>
          <p:nvPr/>
        </p:nvSpPr>
        <p:spPr>
          <a:xfrm>
            <a:off x="10149840" y="2423160"/>
            <a:ext cx="1463040" cy="320040"/>
          </a:xfrm>
          <a:prstGeom prst="rect">
            <a:avLst/>
          </a:prstGeom>
          <a:noFill/>
          <a:ln/>
        </p:spPr>
        <p:txBody>
          <a:bodyPr wrap="square" lIns="0" tIns="0" rIns="0" bIns="0" rtlCol="0" anchor="ctr"/>
          <a:lstStyle/>
          <a:p>
            <a:pPr marL="0" indent="0" algn="ctr">
              <a:buNone/>
            </a:pPr>
            <a:r>
              <a:rPr lang="en-US" sz="1000" dirty="0">
                <a:solidFill>
                  <a:srgbClr val="5A6E72"/>
                </a:solidFill>
                <a:latin typeface="Calibri" pitchFamily="34" charset="0"/>
                <a:ea typeface="Calibri" pitchFamily="34" charset="-122"/>
                <a:cs typeface="Calibri" pitchFamily="34" charset="-120"/>
              </a:rPr>
              <a:t>Germany Churn</a:t>
            </a:r>
            <a:endParaRPr lang="en-US" sz="1000" dirty="0"/>
          </a:p>
        </p:txBody>
      </p:sp>
      <p:graphicFrame>
        <p:nvGraphicFramePr>
          <p:cNvPr id="16" name="Chart 0"/>
          <p:cNvGraphicFramePr/>
          <p:nvPr/>
        </p:nvGraphicFramePr>
        <p:xfrm>
          <a:off x="6949440" y="2971800"/>
          <a:ext cx="4572000" cy="14630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
          <p:cNvGraphicFramePr/>
          <p:nvPr/>
        </p:nvGraphicFramePr>
        <p:xfrm>
          <a:off x="6949440" y="4526280"/>
          <a:ext cx="2194560" cy="15544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Chart 2"/>
          <p:cNvGraphicFramePr/>
          <p:nvPr/>
        </p:nvGraphicFramePr>
        <p:xfrm>
          <a:off x="9235440" y="4526280"/>
          <a:ext cx="2286000" cy="1554480"/>
        </p:xfrm>
        <a:graphic>
          <a:graphicData uri="http://schemas.openxmlformats.org/drawingml/2006/chart">
            <c:chart xmlns:c="http://schemas.openxmlformats.org/drawingml/2006/chart" xmlns:r="http://schemas.openxmlformats.org/officeDocument/2006/relationships" r:id="rId5"/>
          </a:graphicData>
        </a:graphic>
      </p:graphicFrame>
      <p:sp>
        <p:nvSpPr>
          <p:cNvPr id="19" name="Text 14"/>
          <p:cNvSpPr/>
          <p:nvPr/>
        </p:nvSpPr>
        <p:spPr>
          <a:xfrm>
            <a:off x="11548872" y="6355080"/>
            <a:ext cx="457200" cy="320040"/>
          </a:xfrm>
          <a:prstGeom prst="rect">
            <a:avLst/>
          </a:prstGeom>
          <a:noFill/>
          <a:ln/>
        </p:spPr>
        <p:txBody>
          <a:bodyPr wrap="square" rtlCol="0" anchor="ctr"/>
          <a:lstStyle/>
          <a:p>
            <a:pPr marL="0" indent="0" algn="r">
              <a:buNone/>
            </a:pPr>
            <a:r>
              <a:rPr lang="en-US" sz="1100" dirty="0">
                <a:solidFill>
                  <a:srgbClr val="5A6E72"/>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1A2E"/>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Key Takeaways &amp; Recommendations</a:t>
            </a:r>
            <a:endParaRPr lang="en-US" sz="3200" dirty="0"/>
          </a:p>
        </p:txBody>
      </p:sp>
      <p:sp>
        <p:nvSpPr>
          <p:cNvPr id="3" name="Shape 1"/>
          <p:cNvSpPr/>
          <p:nvPr/>
        </p:nvSpPr>
        <p:spPr>
          <a:xfrm>
            <a:off x="548640" y="1417320"/>
            <a:ext cx="457200" cy="457200"/>
          </a:xfrm>
          <a:prstGeom prst="ellipse">
            <a:avLst/>
          </a:prstGeom>
          <a:solidFill>
            <a:srgbClr val="02C39A"/>
          </a:solidFill>
          <a:ln/>
        </p:spPr>
      </p:sp>
      <p:sp>
        <p:nvSpPr>
          <p:cNvPr id="4" name="Text 2"/>
          <p:cNvSpPr/>
          <p:nvPr/>
        </p:nvSpPr>
        <p:spPr>
          <a:xfrm>
            <a:off x="548640" y="1417320"/>
            <a:ext cx="457200" cy="457200"/>
          </a:xfrm>
          <a:prstGeom prst="rect">
            <a:avLst/>
          </a:prstGeom>
          <a:noFill/>
          <a:ln/>
        </p:spPr>
        <p:txBody>
          <a:bodyPr wrap="square" lIns="0" tIns="0" rIns="0" bIns="0" rtlCol="0" anchor="ctr"/>
          <a:lstStyle/>
          <a:p>
            <a:pPr marL="0" indent="0" algn="ctr">
              <a:buNone/>
            </a:pPr>
            <a:r>
              <a:rPr lang="en-US" sz="1800" b="1" dirty="0">
                <a:solidFill>
                  <a:srgbClr val="021A2E"/>
                </a:solidFill>
                <a:latin typeface="Calibri" pitchFamily="34" charset="0"/>
                <a:ea typeface="Calibri" pitchFamily="34" charset="-122"/>
                <a:cs typeface="Calibri" pitchFamily="34" charset="-120"/>
              </a:rPr>
              <a:t>✓</a:t>
            </a:r>
            <a:endParaRPr lang="en-US" sz="1800" dirty="0"/>
          </a:p>
        </p:txBody>
      </p:sp>
      <p:sp>
        <p:nvSpPr>
          <p:cNvPr id="5" name="Text 3"/>
          <p:cNvSpPr/>
          <p:nvPr/>
        </p:nvSpPr>
        <p:spPr>
          <a:xfrm>
            <a:off x="1188720" y="1371600"/>
            <a:ext cx="10424160" cy="36576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Geography matters</a:t>
            </a:r>
            <a:endParaRPr lang="en-US" sz="1700" dirty="0"/>
          </a:p>
        </p:txBody>
      </p:sp>
      <p:sp>
        <p:nvSpPr>
          <p:cNvPr id="6" name="Text 4"/>
          <p:cNvSpPr/>
          <p:nvPr/>
        </p:nvSpPr>
        <p:spPr>
          <a:xfrm>
            <a:off x="1188720" y="1755648"/>
            <a:ext cx="10424160" cy="502920"/>
          </a:xfrm>
          <a:prstGeom prst="rect">
            <a:avLst/>
          </a:prstGeom>
          <a:noFill/>
          <a:ln/>
        </p:spPr>
        <p:txBody>
          <a:bodyPr wrap="square" rtlCol="0" anchor="ctr"/>
          <a:lstStyle/>
          <a:p>
            <a:pPr marL="0" indent="0">
              <a:buNone/>
            </a:pPr>
            <a:r>
              <a:rPr lang="en-US" sz="1300" dirty="0">
                <a:solidFill>
                  <a:srgbClr val="CFEDE8"/>
                </a:solidFill>
                <a:latin typeface="Calibri" pitchFamily="34" charset="0"/>
                <a:ea typeface="Calibri" pitchFamily="34" charset="-122"/>
                <a:cs typeface="Calibri" pitchFamily="34" charset="-120"/>
              </a:rPr>
              <a:t>Germany's churn rate is 2x France/Spain — investigate local service quality, competition, or pricing.</a:t>
            </a:r>
            <a:endParaRPr lang="en-US" sz="1300" dirty="0"/>
          </a:p>
        </p:txBody>
      </p:sp>
      <p:sp>
        <p:nvSpPr>
          <p:cNvPr id="7" name="Shape 5"/>
          <p:cNvSpPr/>
          <p:nvPr/>
        </p:nvSpPr>
        <p:spPr>
          <a:xfrm>
            <a:off x="548640" y="2606040"/>
            <a:ext cx="457200" cy="457200"/>
          </a:xfrm>
          <a:prstGeom prst="ellipse">
            <a:avLst/>
          </a:prstGeom>
          <a:solidFill>
            <a:srgbClr val="02C39A"/>
          </a:solidFill>
          <a:ln/>
        </p:spPr>
      </p:sp>
      <p:sp>
        <p:nvSpPr>
          <p:cNvPr id="8" name="Text 6"/>
          <p:cNvSpPr/>
          <p:nvPr/>
        </p:nvSpPr>
        <p:spPr>
          <a:xfrm>
            <a:off x="548640" y="2606040"/>
            <a:ext cx="457200" cy="457200"/>
          </a:xfrm>
          <a:prstGeom prst="rect">
            <a:avLst/>
          </a:prstGeom>
          <a:noFill/>
          <a:ln/>
        </p:spPr>
        <p:txBody>
          <a:bodyPr wrap="square" lIns="0" tIns="0" rIns="0" bIns="0" rtlCol="0" anchor="ctr"/>
          <a:lstStyle/>
          <a:p>
            <a:pPr marL="0" indent="0" algn="ctr">
              <a:buNone/>
            </a:pPr>
            <a:r>
              <a:rPr lang="en-US" sz="1800" b="1" dirty="0">
                <a:solidFill>
                  <a:srgbClr val="021A2E"/>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188720" y="2560320"/>
            <a:ext cx="10424160" cy="36576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Engagement drives loyalty</a:t>
            </a:r>
            <a:endParaRPr lang="en-US" sz="1700" dirty="0"/>
          </a:p>
        </p:txBody>
      </p:sp>
      <p:sp>
        <p:nvSpPr>
          <p:cNvPr id="10" name="Text 8"/>
          <p:cNvSpPr/>
          <p:nvPr/>
        </p:nvSpPr>
        <p:spPr>
          <a:xfrm>
            <a:off x="1188720" y="2944368"/>
            <a:ext cx="10424160" cy="502920"/>
          </a:xfrm>
          <a:prstGeom prst="rect">
            <a:avLst/>
          </a:prstGeom>
          <a:noFill/>
          <a:ln/>
        </p:spPr>
        <p:txBody>
          <a:bodyPr wrap="square" rtlCol="0" anchor="ctr"/>
          <a:lstStyle/>
          <a:p>
            <a:pPr marL="0" indent="0">
              <a:buNone/>
            </a:pPr>
            <a:r>
              <a:rPr lang="en-US" sz="1300" dirty="0">
                <a:solidFill>
                  <a:srgbClr val="CFEDE8"/>
                </a:solidFill>
                <a:latin typeface="Calibri" pitchFamily="34" charset="0"/>
                <a:ea typeface="Calibri" pitchFamily="34" charset="-122"/>
                <a:cs typeface="Calibri" pitchFamily="34" charset="-120"/>
              </a:rPr>
              <a:t>Inactive members are far more likely to leave — proactive engagement campaigns could reduce churn.</a:t>
            </a:r>
            <a:endParaRPr lang="en-US" sz="1300" dirty="0"/>
          </a:p>
        </p:txBody>
      </p:sp>
      <p:sp>
        <p:nvSpPr>
          <p:cNvPr id="11" name="Shape 9"/>
          <p:cNvSpPr/>
          <p:nvPr/>
        </p:nvSpPr>
        <p:spPr>
          <a:xfrm>
            <a:off x="548640" y="3794760"/>
            <a:ext cx="457200" cy="457200"/>
          </a:xfrm>
          <a:prstGeom prst="ellipse">
            <a:avLst/>
          </a:prstGeom>
          <a:solidFill>
            <a:srgbClr val="02C39A"/>
          </a:solidFill>
          <a:ln/>
        </p:spPr>
      </p:sp>
      <p:sp>
        <p:nvSpPr>
          <p:cNvPr id="12" name="Text 10"/>
          <p:cNvSpPr/>
          <p:nvPr/>
        </p:nvSpPr>
        <p:spPr>
          <a:xfrm>
            <a:off x="548640" y="3794760"/>
            <a:ext cx="457200" cy="457200"/>
          </a:xfrm>
          <a:prstGeom prst="rect">
            <a:avLst/>
          </a:prstGeom>
          <a:noFill/>
          <a:ln/>
        </p:spPr>
        <p:txBody>
          <a:bodyPr wrap="square" lIns="0" tIns="0" rIns="0" bIns="0" rtlCol="0" anchor="ctr"/>
          <a:lstStyle/>
          <a:p>
            <a:pPr marL="0" indent="0" algn="ctr">
              <a:buNone/>
            </a:pPr>
            <a:r>
              <a:rPr lang="en-US" sz="1800" b="1" dirty="0">
                <a:solidFill>
                  <a:srgbClr val="021A2E"/>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1188720" y="3749040"/>
            <a:ext cx="10424160" cy="36576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Product overload risk</a:t>
            </a:r>
            <a:endParaRPr lang="en-US" sz="1700" dirty="0"/>
          </a:p>
        </p:txBody>
      </p:sp>
      <p:sp>
        <p:nvSpPr>
          <p:cNvPr id="14" name="Text 12"/>
          <p:cNvSpPr/>
          <p:nvPr/>
        </p:nvSpPr>
        <p:spPr>
          <a:xfrm>
            <a:off x="1188720" y="4133088"/>
            <a:ext cx="10424160" cy="502920"/>
          </a:xfrm>
          <a:prstGeom prst="rect">
            <a:avLst/>
          </a:prstGeom>
          <a:noFill/>
          <a:ln/>
        </p:spPr>
        <p:txBody>
          <a:bodyPr wrap="square" rtlCol="0" anchor="ctr"/>
          <a:lstStyle/>
          <a:p>
            <a:pPr marL="0" indent="0">
              <a:buNone/>
            </a:pPr>
            <a:r>
              <a:rPr lang="en-US" sz="1300" dirty="0">
                <a:solidFill>
                  <a:srgbClr val="CFEDE8"/>
                </a:solidFill>
                <a:latin typeface="Calibri" pitchFamily="34" charset="0"/>
                <a:ea typeface="Calibri" pitchFamily="34" charset="-122"/>
                <a:cs typeface="Calibri" pitchFamily="34" charset="-120"/>
              </a:rPr>
              <a:t>Customers with 3-4 products churn at 80-100% — review cross-sell practices and bundle quality.</a:t>
            </a:r>
            <a:endParaRPr lang="en-US" sz="1300" dirty="0"/>
          </a:p>
        </p:txBody>
      </p:sp>
      <p:sp>
        <p:nvSpPr>
          <p:cNvPr id="15" name="Shape 13"/>
          <p:cNvSpPr/>
          <p:nvPr/>
        </p:nvSpPr>
        <p:spPr>
          <a:xfrm>
            <a:off x="548640" y="4983480"/>
            <a:ext cx="457200" cy="457200"/>
          </a:xfrm>
          <a:prstGeom prst="ellipse">
            <a:avLst/>
          </a:prstGeom>
          <a:solidFill>
            <a:srgbClr val="02C39A"/>
          </a:solidFill>
          <a:ln/>
        </p:spPr>
      </p:sp>
      <p:sp>
        <p:nvSpPr>
          <p:cNvPr id="16" name="Text 14"/>
          <p:cNvSpPr/>
          <p:nvPr/>
        </p:nvSpPr>
        <p:spPr>
          <a:xfrm>
            <a:off x="548640" y="4983480"/>
            <a:ext cx="457200" cy="457200"/>
          </a:xfrm>
          <a:prstGeom prst="rect">
            <a:avLst/>
          </a:prstGeom>
          <a:noFill/>
          <a:ln/>
        </p:spPr>
        <p:txBody>
          <a:bodyPr wrap="square" lIns="0" tIns="0" rIns="0" bIns="0" rtlCol="0" anchor="ctr"/>
          <a:lstStyle/>
          <a:p>
            <a:pPr marL="0" indent="0" algn="ctr">
              <a:buNone/>
            </a:pPr>
            <a:r>
              <a:rPr lang="en-US" sz="1800" b="1" dirty="0">
                <a:solidFill>
                  <a:srgbClr val="021A2E"/>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1188720" y="4937760"/>
            <a:ext cx="10424160" cy="36576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Targeted retention for women &amp; seniors</a:t>
            </a:r>
            <a:endParaRPr lang="en-US" sz="1700" dirty="0"/>
          </a:p>
        </p:txBody>
      </p:sp>
      <p:sp>
        <p:nvSpPr>
          <p:cNvPr id="18" name="Text 16"/>
          <p:cNvSpPr/>
          <p:nvPr/>
        </p:nvSpPr>
        <p:spPr>
          <a:xfrm>
            <a:off x="1188720" y="5321808"/>
            <a:ext cx="10424160" cy="502920"/>
          </a:xfrm>
          <a:prstGeom prst="rect">
            <a:avLst/>
          </a:prstGeom>
          <a:noFill/>
          <a:ln/>
        </p:spPr>
        <p:txBody>
          <a:bodyPr wrap="square" rtlCol="0" anchor="ctr"/>
          <a:lstStyle/>
          <a:p>
            <a:pPr marL="0" indent="0">
              <a:buNone/>
            </a:pPr>
            <a:r>
              <a:rPr lang="en-US" sz="1300" dirty="0">
                <a:solidFill>
                  <a:srgbClr val="CFEDE8"/>
                </a:solidFill>
                <a:latin typeface="Calibri" pitchFamily="34" charset="0"/>
                <a:ea typeface="Calibri" pitchFamily="34" charset="-122"/>
                <a:cs typeface="Calibri" pitchFamily="34" charset="-120"/>
              </a:rPr>
              <a:t>Female and older customers churn more — tailor retention offers to these segments.</a:t>
            </a:r>
            <a:endParaRPr lang="en-US" sz="1300" dirty="0"/>
          </a:p>
        </p:txBody>
      </p:sp>
      <p:sp>
        <p:nvSpPr>
          <p:cNvPr id="19" name="Text 17"/>
          <p:cNvSpPr/>
          <p:nvPr/>
        </p:nvSpPr>
        <p:spPr>
          <a:xfrm>
            <a:off x="548640" y="6263640"/>
            <a:ext cx="11064240" cy="365760"/>
          </a:xfrm>
          <a:prstGeom prst="rect">
            <a:avLst/>
          </a:prstGeom>
          <a:noFill/>
          <a:ln/>
        </p:spPr>
        <p:txBody>
          <a:bodyPr wrap="square" rtlCol="0" anchor="ctr"/>
          <a:lstStyle/>
          <a:p>
            <a:pPr marL="0" indent="0">
              <a:buNone/>
            </a:pPr>
            <a:r>
              <a:rPr lang="en-US" sz="1100" i="1" dirty="0">
                <a:solidFill>
                  <a:srgbClr val="9FD8D2"/>
                </a:solidFill>
                <a:latin typeface="Calibri" pitchFamily="34" charset="0"/>
                <a:ea typeface="Calibri" pitchFamily="34" charset="-122"/>
                <a:cs typeface="Calibri" pitchFamily="34" charset="-120"/>
              </a:rPr>
              <a:t>Tech stack: PostgreSQL (SQL analysis) · Power BI (interactive dashboard)</a:t>
            </a:r>
            <a:endParaRPr lang="en-US" sz="1100" dirty="0"/>
          </a:p>
        </p:txBody>
      </p:sp>
      <p:sp>
        <p:nvSpPr>
          <p:cNvPr id="20" name="Text 18"/>
          <p:cNvSpPr/>
          <p:nvPr/>
        </p:nvSpPr>
        <p:spPr>
          <a:xfrm>
            <a:off x="11548872" y="6355080"/>
            <a:ext cx="457200" cy="320040"/>
          </a:xfrm>
          <a:prstGeom prst="rect">
            <a:avLst/>
          </a:prstGeom>
          <a:noFill/>
          <a:ln/>
        </p:spPr>
        <p:txBody>
          <a:bodyPr wrap="square" rtlCol="0" anchor="ctr"/>
          <a:lstStyle/>
          <a:p>
            <a:pPr marL="0" indent="0" algn="r">
              <a:buNone/>
            </a:pPr>
            <a:r>
              <a:rPr lang="en-US" sz="1100" dirty="0">
                <a:solidFill>
                  <a:srgbClr val="CFEDE8"/>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617</Words>
  <Application>Microsoft Office PowerPoint</Application>
  <PresentationFormat>Widescreen</PresentationFormat>
  <Paragraphs>115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Customer Churn Analysis</dc:title>
  <dc:subject>PptxGenJS Presentation</dc:subject>
  <dc:creator>Bank Churn Analysis</dc:creator>
  <cp:lastModifiedBy>Abhishek Kumar</cp:lastModifiedBy>
  <cp:revision>2</cp:revision>
  <dcterms:created xsi:type="dcterms:W3CDTF">2026-06-12T06:45:40Z</dcterms:created>
  <dcterms:modified xsi:type="dcterms:W3CDTF">2026-06-12T07:05:12Z</dcterms:modified>
</cp:coreProperties>
</file>